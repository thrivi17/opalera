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D8B4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0D89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  <c:pt idx="9">
                    <c:v>Jul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</c:v>
                </c:pt>
                <c:pt idx="1">
                  <c:v>24</c:v>
                </c:pt>
                <c:pt idx="2">
                  <c:v>36</c:v>
                </c:pt>
                <c:pt idx="3">
                  <c:v>26</c:v>
                </c:pt>
                <c:pt idx="4">
                  <c:v>36</c:v>
                </c:pt>
                <c:pt idx="5">
                  <c:v>28</c:v>
                </c:pt>
                <c:pt idx="6">
                  <c:v>30</c:v>
                </c:pt>
                <c:pt idx="7">
                  <c:v>31</c:v>
                </c:pt>
                <c:pt idx="8">
                  <c:v>32</c:v>
                </c:pt>
                <c:pt idx="9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0D89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49CB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6350" cap="flat">
              <a:solidFill>
                <a:srgbClr val="2A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49CB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A10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day, we are Quantum Coders. This is OPALÉRA — our fine-jewellery e-commerce project. Everything you are about to see on these slides is a real screenshot of the running site, and we will demo it live after the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member by name and role: Tsongorera leads the team and builds the back-end with Madhavan, who also found and implements the database; Thedzisani and Mtshare build the front-end you are about to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proposal made three promises: protection from fake-stone scams, honest prices on a real salary, and a rating system as the differentiator. Hold those three in mind — every screen that follows keeps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Against the marking sheet: six features are done, four are in progress — and 'in progress' here means already working on screen, as the screenshots will show, with the remaining depth arriving with the back-end. We would rather under-claim and over-show.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home page as it renders today — the aurora background drifts slowly, the sparkles twinkle, and the trust strip answers the proposal's promises the moment you arrive.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catalogue: eighty pieces across three collections. The brief asked for ten products with description pages — we generated an individual HTML page for every one of the eighty.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Between the hero and the shop sits a graphical portrait of the dataset itself — the counters count up and the bars grow as you scroll. Nothing is hard-coded.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piece has this page: its own description, the magnifier gallery, the rating system from our proposal — stars, reviews and thumbs — plus stock, VAT and the certificate.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Studio is our feature beyond the brief. Watch the locked row — the stone cannot be changed, ever. Inscriptions are screened for offensive content because engraving is permanent.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Checkout: quantities capped by stock, the customised piece itemised with its inscription, the promo working, VAT broken out, and the delivery address feeding the province reports. Payment is clearly labelled simulated — the gateway is a back-end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completed order already produces this printable tax invoice. We mark the feature in progress because sequential numbering and permanent server records arrive with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user types are already differentiated — guests browse and vote, customers transact and review, and the manager has a separate console that refuses customer accounts. It stays in progress because real session security belongs to the back-end.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console is intentionally a different world — light, tabular, data-first. The verdict answers the lecturer's own question: is the business improving? Here, up three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answer the lecturer's example questions directly: sales per province, and whether sales rise across the year — July closed at thirty-nine pieces. Sample months are honestly labelled; live orders merge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is graded first because it is felt first. One palette is mapped across every page — and the same discipline flips to a light, clinical mood for the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Forty-seven automated end-to-end checks run the whole journey and pass. What finishes next is exactly the four in-progress features. Now the live demo, in this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— we welcome questions after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777240"/>
            <a:ext cx="457200" cy="457200"/>
          </a:xfrm>
          <a:prstGeom prst="rect">
            <a:avLst/>
          </a:prstGeom>
          <a:solidFill>
            <a:srgbClr val="3F6FD8">
              <a:alpha val="18000"/>
            </a:srgbClr>
          </a:solidFill>
          <a:ln w="9525">
            <a:solidFill>
              <a:srgbClr val="3F6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7955280" y="1097280"/>
            <a:ext cx="310896" cy="310896"/>
          </a:xfrm>
          <a:prstGeom prst="rect">
            <a:avLst/>
          </a:prstGeom>
          <a:solidFill>
            <a:srgbClr val="E08BB0">
              <a:alpha val="18000"/>
            </a:srgbClr>
          </a:solidFill>
          <a:ln w="9525">
            <a:solidFill>
              <a:srgbClr val="E0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1234440" y="3977640"/>
            <a:ext cx="274320" cy="274320"/>
          </a:xfrm>
          <a:prstGeom prst="rect">
            <a:avLst/>
          </a:prstGeom>
          <a:solidFill>
            <a:srgbClr val="2FAE7E">
              <a:alpha val="18000"/>
            </a:srgbClr>
          </a:solidFill>
          <a:ln w="9525">
            <a:solidFill>
              <a:srgbClr val="2FAE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7635240" y="3794760"/>
            <a:ext cx="402336" cy="402336"/>
          </a:xfrm>
          <a:prstGeom prst="rect">
            <a:avLst/>
          </a:prstGeom>
          <a:solidFill>
            <a:srgbClr val="9B6FD8">
              <a:alpha val="18000"/>
            </a:srgbClr>
          </a:solidFill>
          <a:ln w="9525">
            <a:solidFill>
              <a:srgbClr val="9B6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315968" y="713232"/>
            <a:ext cx="512064" cy="512064"/>
          </a:xfrm>
          <a:prstGeom prst="rect">
            <a:avLst/>
          </a:prstGeom>
          <a:solidFill>
            <a:srgbClr val="0B0A10"/>
          </a:solidFill>
          <a:ln w="19050">
            <a:solidFill>
              <a:srgbClr val="D8B4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4471416" y="868680"/>
            <a:ext cx="201168" cy="201168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IFM2B10 · GROUP PROJECT PROGRESS UPDATE · 26 AUGUST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spc="14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OPALÉRA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49C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House of Every Gem — a B2C fine-jewellery storefront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0D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CODERS</a:t>
            </a:r>
            <a:pPr algn="ctr" indent="0" marL="0">
              <a:buNone/>
            </a:pPr>
            <a:r>
              <a:rPr lang="en-US" sz="1100" spc="100" kern="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80 pieces  ·  92 pages  ·  built, styled &amp; working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CODERS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5196" y="1339596"/>
            <a:ext cx="2029968" cy="1892808"/>
          </a:xfrm>
          <a:prstGeom prst="rect">
            <a:avLst/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96596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3467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Tsongorera RJN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363931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225059699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 · Backend developer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74036" y="1339596"/>
            <a:ext cx="2029968" cy="1892808"/>
          </a:xfrm>
          <a:prstGeom prst="rect">
            <a:avLst/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06040" y="1371600"/>
            <a:ext cx="1965960" cy="1828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33467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Thedzisani KOP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2606040" y="363931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224098795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6060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22876" y="1339596"/>
            <a:ext cx="2029968" cy="1892808"/>
          </a:xfrm>
          <a:prstGeom prst="rect">
            <a:avLst/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1371600"/>
            <a:ext cx="1965960" cy="1828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33467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Madhavan T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754880" y="363931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225139703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7548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developer · Database creator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71716" y="1339596"/>
            <a:ext cx="2029968" cy="1892808"/>
          </a:xfrm>
          <a:prstGeom prst="rect">
            <a:avLst/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03720" y="1371600"/>
            <a:ext cx="1965960" cy="18288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33467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Mtshare B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903720" y="363931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225226751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9037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PROPOSAL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OPALÉRA Exists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jewellery online is a gamble — fake stones, no recourse, and real pieces priced beyond a normal salary. </a:t>
            </a:r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OPALÉRA answers with a maison you can trust.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70048" cy="2103120"/>
          </a:xfrm>
          <a:prstGeom prst="roundRect">
            <a:avLst>
              <a:gd name="adj" fmla="val 3478"/>
            </a:avLst>
          </a:prstGeom>
          <a:solidFill>
            <a:srgbClr val="14121D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694944" y="2432304"/>
            <a:ext cx="182880" cy="182880"/>
          </a:xfrm>
          <a:prstGeom prst="rect">
            <a:avLst/>
          </a:prstGeom>
          <a:solidFill>
            <a:srgbClr val="2FAE7E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359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FA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authentic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94944" y="2788920"/>
            <a:ext cx="22311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carries its own certificate of authenticity; the maison refunds in full if a stone is ever misrepresented.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2194560"/>
            <a:ext cx="2670048" cy="2103120"/>
          </a:xfrm>
          <a:prstGeom prst="roundRect">
            <a:avLst>
              <a:gd name="adj" fmla="val 3478"/>
            </a:avLst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3547872" y="2432304"/>
            <a:ext cx="182880" cy="182880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77056" y="2359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B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prices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47872" y="2788920"/>
            <a:ext cx="22311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Direct-from-atelier pricing from R 959, VAT included, with instalment framing on every piece.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2194560"/>
            <a:ext cx="2670048" cy="2103120"/>
          </a:xfrm>
          <a:prstGeom prst="roundRect">
            <a:avLst>
              <a:gd name="adj" fmla="val 3478"/>
            </a:avLst>
          </a:prstGeom>
          <a:solidFill>
            <a:srgbClr val="14121D"/>
          </a:solidFill>
          <a:ln w="12700">
            <a:solidFill>
              <a:srgbClr val="E08B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6400800" y="2432304"/>
            <a:ext cx="182880" cy="182880"/>
          </a:xfrm>
          <a:prstGeom prst="rect">
            <a:avLst/>
          </a:prstGeom>
          <a:solidFill>
            <a:srgbClr val="E08BB0"/>
          </a:solidFill>
          <a:ln w="12700">
            <a:solidFill>
              <a:srgbClr val="E08B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2359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08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rating system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0" y="2788920"/>
            <a:ext cx="22311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proposal's differentiator: star ratings, written patron reviews and thumbs votes on every piece — visible before you pay.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Catalogue: the 80-piece Kaggle jewellery dataset · necklaces, earrings &amp; pendants · R 959 – R 6 799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AGAINST THE MARKING SHEET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Every Feature Stands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41648" cy="566928"/>
          </a:xfrm>
          <a:prstGeom prst="roundRect">
            <a:avLst>
              <a:gd name="adj" fmla="val 9677"/>
            </a:avLst>
          </a:prstGeom>
          <a:solidFill>
            <a:srgbClr val="14121D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517904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5179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463040" y="142646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design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63040" y="1682496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· styling · colour system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4041648" cy="566928"/>
          </a:xfrm>
          <a:prstGeom prst="roundRect">
            <a:avLst>
              <a:gd name="adj" fmla="val 9677"/>
            </a:avLst>
          </a:prstGeom>
          <a:solidFill>
            <a:srgbClr val="14121D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2194560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194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63040" y="210312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catalog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63040" y="235915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filter · sort · stock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4041648" cy="566928"/>
          </a:xfrm>
          <a:prstGeom prst="roundRect">
            <a:avLst>
              <a:gd name="adj" fmla="val 9677"/>
            </a:avLst>
          </a:prstGeom>
          <a:solidFill>
            <a:srgbClr val="14121D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" y="2871216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E0B2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8712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E0B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92224" y="277977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792224" y="303580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mirrored; DB itself next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401568"/>
            <a:ext cx="4041648" cy="566928"/>
          </a:xfrm>
          <a:prstGeom prst="roundRect">
            <a:avLst>
              <a:gd name="adj" fmla="val 9677"/>
            </a:avLst>
          </a:prstGeom>
          <a:solidFill>
            <a:srgbClr val="14121D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" y="3547872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35478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463040" y="345643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/ test data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63040" y="3712464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pieces · a page for each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078224"/>
            <a:ext cx="4041648" cy="566928"/>
          </a:xfrm>
          <a:prstGeom prst="roundRect">
            <a:avLst>
              <a:gd name="adj" fmla="val 9677"/>
            </a:avLst>
          </a:prstGeom>
          <a:solidFill>
            <a:srgbClr val="14121D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" y="4224528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42245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463040" y="41330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management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463040" y="438912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adds · retires · restocks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81728" y="1371600"/>
            <a:ext cx="4041648" cy="566928"/>
          </a:xfrm>
          <a:prstGeom prst="roundRect">
            <a:avLst>
              <a:gd name="adj" fmla="val 9677"/>
            </a:avLst>
          </a:prstGeom>
          <a:solidFill>
            <a:srgbClr val="14121D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9744" y="1517904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15179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87568" y="142646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cart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87568" y="1682496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· stock caps · persistent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81728" y="2048256"/>
            <a:ext cx="4041648" cy="566928"/>
          </a:xfrm>
          <a:prstGeom prst="roundRect">
            <a:avLst>
              <a:gd name="adj" fmla="val 9677"/>
            </a:avLst>
          </a:prstGeom>
          <a:solidFill>
            <a:srgbClr val="14121D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9744" y="2194560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9744" y="21945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87568" y="210312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processing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687568" y="235915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· VAT 15% · checkout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81728" y="2724912"/>
            <a:ext cx="4041648" cy="566928"/>
          </a:xfrm>
          <a:prstGeom prst="roundRect">
            <a:avLst>
              <a:gd name="adj" fmla="val 9677"/>
            </a:avLst>
          </a:prstGeom>
          <a:solidFill>
            <a:srgbClr val="14121D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9744" y="2871216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E0B2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9744" y="28712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E0B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16752" y="277977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016752" y="303580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— wiring continues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81728" y="3401568"/>
            <a:ext cx="4041648" cy="566928"/>
          </a:xfrm>
          <a:prstGeom prst="roundRect">
            <a:avLst>
              <a:gd name="adj" fmla="val 9677"/>
            </a:avLst>
          </a:prstGeom>
          <a:solidFill>
            <a:srgbClr val="14121D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9744" y="3547872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E0B2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35478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E0B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016752" y="345643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management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016752" y="371246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live — deepening access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81728" y="4078224"/>
            <a:ext cx="4041648" cy="566928"/>
          </a:xfrm>
          <a:prstGeom prst="roundRect">
            <a:avLst>
              <a:gd name="adj" fmla="val 9677"/>
            </a:avLst>
          </a:prstGeom>
          <a:solidFill>
            <a:srgbClr val="14121D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9744" y="4224528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E0B23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422452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E0B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016752" y="413308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016752" y="438912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live — more data views coming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 stand complete; four are in honest motion — each already working on screen, finishing as the back-end lands.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EVERY IMAGE IS A REAL SCREENSHOT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 at the Maison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48356" y="1357884"/>
            <a:ext cx="5870448" cy="3328416"/>
          </a:xfrm>
          <a:prstGeom prst="rect">
            <a:avLst/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389888"/>
            <a:ext cx="5806440" cy="3264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8132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aurora and sparkle field behind every page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gold-on-midnight design system, 92 pages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strip on arrival: rating · authenticity · returns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Signed-in patron, live wishlist &amp; bag counts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224528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224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DESIGN · DONE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PRODUCT CATALOG + TEST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Collection — 80 Pieces, 80 Pages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48356" y="1357884"/>
            <a:ext cx="5870448" cy="3328416"/>
          </a:xfrm>
          <a:prstGeom prst="rect">
            <a:avLst/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389888"/>
            <a:ext cx="5806440" cy="3264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8132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tabs with live counts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price bands and sorting combine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“Showing 80 of 80 pieces” honesty line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hearts on every card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opens the piece's own page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041648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DONE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440740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407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· DONE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THE DATASET, VISUALISED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Atelier, in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48356" y="1357884"/>
            <a:ext cx="5870448" cy="3328416"/>
          </a:xfrm>
          <a:prstGeom prst="rect">
            <a:avLst/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389888"/>
            <a:ext cx="5806440" cy="3264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8132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 counters computed from the dataset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per collection, coloured by gem accent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per collection in rand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Animates in as the visitor scrolls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224528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224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DESIGN · DONE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ONE PAGE PER PIECE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48356" y="1357884"/>
            <a:ext cx="5870448" cy="3328416"/>
          </a:xfrm>
          <a:prstGeom prst="rect">
            <a:avLst/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389888"/>
            <a:ext cx="5806440" cy="3264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8132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description for all 80 pieces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4-view gallery with a follow-your-finger magnifier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Stars, thumbs votes and “97% recommend”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level, VAT note, signature-piece rule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authenticity on every piece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224528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· LIVE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BEYOND THE BRIEF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Studio — Customisation, With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48356" y="1357884"/>
            <a:ext cx="5870448" cy="3328416"/>
          </a:xfrm>
          <a:prstGeom prst="rect">
            <a:avLst/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389888"/>
            <a:ext cx="5806440" cy="3264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8132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removable elements, add-a-pendant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30-character inscription with a content filter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stone is never changed — locked on screen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pieces: inscription only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live, carried to bag and invoice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224528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224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MGMT · DONE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CART + TRANSACTION PROCESSING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Checkout: Quantities, VAT &amp; Delivery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48356" y="1357884"/>
            <a:ext cx="5870448" cy="3328416"/>
          </a:xfrm>
          <a:prstGeom prst="rect">
            <a:avLst/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389888"/>
            <a:ext cx="5806440" cy="3264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8132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with quantities, capped by real stock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Customisations itemised (see the inscription)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codes — GEM10 takes 10% off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at 15% shown inside every total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address with all nine provinces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04164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041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· DONE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4407408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407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· DONE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INVOICES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 Invoice for Every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48356" y="1357884"/>
            <a:ext cx="5870448" cy="3328416"/>
          </a:xfrm>
          <a:prstGeom prst="rect">
            <a:avLst/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389888"/>
            <a:ext cx="5806440" cy="3264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8132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the moment payment completes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Letterhead, invoice №, date and method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with quantities and inscriptions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and VAT broken out; print / save as PDF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041648"/>
            <a:ext cx="187452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E0B2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0416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E0B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· IN PROGRESS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44074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sequential numbering &amp;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records (back-end).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· IN PROGRESS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Visitor, Three Doors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70048" cy="2834640"/>
          </a:xfrm>
          <a:prstGeom prst="roundRect">
            <a:avLst>
              <a:gd name="adj" fmla="val 2740"/>
            </a:avLst>
          </a:prstGeom>
          <a:solidFill>
            <a:srgbClr val="14121D"/>
          </a:solidFill>
          <a:ln w="12700">
            <a:solidFill>
              <a:srgbClr val="3F6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7276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3F6F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3F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 shopping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" y="2304288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80 pieces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filter, galleries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 / down votes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reviews &amp; certificates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371600"/>
            <a:ext cx="2670048" cy="2834640"/>
          </a:xfrm>
          <a:prstGeom prst="roundRect">
            <a:avLst>
              <a:gd name="adj" fmla="val 2740"/>
            </a:avLst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57276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11296" y="19202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Registered customer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47872" y="2304288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&amp; persistent bag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orders &amp; pays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with verified badge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&amp; invoices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371600"/>
            <a:ext cx="2670048" cy="2834640"/>
          </a:xfrm>
          <a:prstGeom prst="roundRect">
            <a:avLst>
              <a:gd name="adj" fmla="val 2740"/>
            </a:avLst>
          </a:prstGeom>
          <a:solidFill>
            <a:srgbClr val="14121D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57276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64224" y="19202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304288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back-office site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Restocks, retires, adds pieces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engagement reports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accounts refused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B0A10"/>
          </a:solidFill>
          <a:ln w="12700">
            <a:solidFill>
              <a:srgbClr val="E0B2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E0B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REFRESH-TOKEN AUTH &amp; PER-ROLE PERMISSIONS DEEPEN WITH THE BACK-END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TOUR · A DIFFERENT WORLD FOR THE MANAGER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Manager's Console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48356" y="1357884"/>
            <a:ext cx="5870448" cy="3328416"/>
          </a:xfrm>
          <a:prstGeom prst="rect">
            <a:avLst/>
          </a:prstGeom>
          <a:solidFill>
            <a:srgbClr val="14121D"/>
          </a:solidFill>
          <a:ln w="12700">
            <a:solidFill>
              <a:srgbClr val="D8B4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389888"/>
            <a:ext cx="5806440" cy="3264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81328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light &amp; clinical — not the boutique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with an “improving / declining” verdict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control: restock, retire, add pieces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reflects every change instantly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✦"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login — customers are refused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224528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0B0A10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224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2FA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MGMT · DONE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IN PROGRESS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Reports: Data Decides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 rot="2700000">
            <a:off x="512064" y="1517904"/>
            <a:ext cx="182880" cy="182880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264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month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and revenue across 19 months, with the improving / declining verdict.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2700000">
            <a:off x="512064" y="2487168"/>
            <a:ext cx="182880" cy="182880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957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collection &amp; province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8833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of sales by collection; bar chart of units across all nine provinces.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2700000">
            <a:off x="512064" y="3456432"/>
            <a:ext cx="182880" cy="182880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64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affection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votes ranked — the share of patrons who recommend each piece.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0B0A10"/>
          </a:solidFill>
          <a:ln w="12700">
            <a:solidFill>
              <a:srgbClr val="E0B2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34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E0B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SAMPLE HISTORY CLEARLY LABELLED; REAL ANALYTICS LAND WITH THE DATABASE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09160" y="1371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Pieces sold per month</a:t>
            </a:r>
            <a:endParaRPr lang="en-US" sz="13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709160" y="1737360"/>
          <a:ext cx="3977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· THE LOOK IS A SYSTEM, NOT LUCK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Palette, Two Worlds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 rot="2700000">
            <a:off x="512064" y="1481328"/>
            <a:ext cx="182880" cy="182880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89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mapping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824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voice on midnight ground, four gem accents rationed across all 92 pages.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2700000">
            <a:off x="512064" y="2304288"/>
            <a:ext cx="182880" cy="182880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12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054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display serif for romance, a spaced label face for order — safe fallbacks everywhere.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2700000">
            <a:off x="512064" y="3127248"/>
            <a:ext cx="182880" cy="182880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358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by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3284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operability, focus rings, reduced-motion support, POPIA privacy page.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 rot="2700000">
            <a:off x="512064" y="3950208"/>
            <a:ext cx="182880" cy="182880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587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manager's world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1513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flips to light and clinical on purpose — two audiences, two moods.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1389888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14121D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1581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palette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33872" y="1938528"/>
            <a:ext cx="566928" cy="301752"/>
          </a:xfrm>
          <a:prstGeom prst="roundRect">
            <a:avLst>
              <a:gd name="adj" fmla="val 15152"/>
            </a:avLst>
          </a:prstGeom>
          <a:solidFill>
            <a:srgbClr val="0B0A10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1956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— the ground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33872" y="2359152"/>
            <a:ext cx="566928" cy="301752"/>
          </a:xfrm>
          <a:prstGeom prst="roundRect">
            <a:avLst>
              <a:gd name="adj" fmla="val 15152"/>
            </a:avLst>
          </a:prstGeom>
          <a:solidFill>
            <a:srgbClr val="D8B45A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the voice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33872" y="2779776"/>
            <a:ext cx="566928" cy="301752"/>
          </a:xfrm>
          <a:prstGeom prst="roundRect">
            <a:avLst>
              <a:gd name="adj" fmla="val 15152"/>
            </a:avLst>
          </a:prstGeom>
          <a:solidFill>
            <a:srgbClr val="E9DCC0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2798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Champagne — display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33872" y="3200400"/>
            <a:ext cx="566928" cy="301752"/>
          </a:xfrm>
          <a:prstGeom prst="roundRect">
            <a:avLst>
              <a:gd name="adj" fmla="val 15152"/>
            </a:avLst>
          </a:prstGeom>
          <a:solidFill>
            <a:srgbClr val="3F6FD8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28816" y="3218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Sapphire accent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33872" y="3621024"/>
            <a:ext cx="566928" cy="301752"/>
          </a:xfrm>
          <a:prstGeom prst="roundRect">
            <a:avLst>
              <a:gd name="adj" fmla="val 15152"/>
            </a:avLst>
          </a:prstGeom>
          <a:solidFill>
            <a:srgbClr val="2FAE7E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8816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accent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33872" y="4041648"/>
            <a:ext cx="566928" cy="301752"/>
          </a:xfrm>
          <a:prstGeom prst="roundRect">
            <a:avLst>
              <a:gd name="adj" fmla="val 15152"/>
            </a:avLst>
          </a:prstGeom>
          <a:solidFill>
            <a:srgbClr val="E08BB0"/>
          </a:solidFill>
          <a:ln w="9525">
            <a:solidFill>
              <a:srgbClr val="3A33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28816" y="4059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accent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" kern="0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Today, Wired for Tomorrow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14121D"/>
          </a:solidFill>
          <a:ln w="12700">
            <a:solidFill>
              <a:srgbClr val="2FAE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A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now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56816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47 automated end-to-end checks pass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journey: browse → customise → pay → invoice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details validated, never stored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POPIA-aware privacy, terms, returns &amp; delivery pages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886200" cy="2331720"/>
          </a:xfrm>
          <a:prstGeom prst="roundRect">
            <a:avLst>
              <a:gd name="adj" fmla="val 3137"/>
            </a:avLst>
          </a:prstGeom>
          <a:solidFill>
            <a:srgbClr val="14121D"/>
          </a:solidFill>
          <a:ln w="12700">
            <a:solidFill>
              <a:srgbClr val="E0B2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572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B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Finishing next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0" y="1956816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✦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our storage already mirrors its schema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✦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Invoices: sequential numbering, server records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✦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management: real session security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✦"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live analytics replacing sample history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B1826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31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→ piece page → Studio → checkout with VAT → invoice → manager console
</a:t>
            </a:r>
            <a:pPr indent="0" marL="0">
              <a:buNone/>
            </a:pPr>
            <a:r>
              <a:rPr lang="en-US" sz="1000" i="1" dirty="0">
                <a:solidFill>
                  <a:srgbClr val="A49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manager@opalera.co.za · Opalera2026 · promo code GEM10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334256" y="1051560"/>
            <a:ext cx="475488" cy="475488"/>
          </a:xfrm>
          <a:prstGeom prst="rect">
            <a:avLst/>
          </a:prstGeom>
          <a:solidFill>
            <a:srgbClr val="0B0A10"/>
          </a:solidFill>
          <a:ln w="19050">
            <a:solidFill>
              <a:srgbClr val="D8B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4480560" y="1197864"/>
            <a:ext cx="182880" cy="182880"/>
          </a:xfrm>
          <a:prstGeom prst="rect">
            <a:avLst/>
          </a:prstGeom>
          <a:solidFill>
            <a:srgbClr val="D8B45A"/>
          </a:solidFill>
          <a:ln w="12700">
            <a:solidFill>
              <a:srgbClr val="D8B4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i="1" dirty="0">
                <a:solidFill>
                  <a:srgbClr val="E9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49C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OPALÉRA — every promise from the proposal, visible on the page.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400" kern="0" dirty="0">
                <a:solidFill>
                  <a:srgbClr val="D8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CODERS · IFM2B10 · PROGRESS UPDATE · 26 AUGUST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5D54C4BE8209459CDD442853243339" ma:contentTypeVersion="12" ma:contentTypeDescription="Create a new document." ma:contentTypeScope="" ma:versionID="dfd341e6d85260cefd9eb71fbf660b53">
  <xsd:schema xmlns:xsd="http://www.w3.org/2001/XMLSchema" xmlns:xs="http://www.w3.org/2001/XMLSchema" xmlns:p="http://schemas.microsoft.com/office/2006/metadata/properties" xmlns:ns2="e4f918c6-1cd1-488d-9ccc-eb7305c33331" xmlns:ns3="e184df55-e762-47d8-8617-b03ab0cd384a" targetNamespace="http://schemas.microsoft.com/office/2006/metadata/properties" ma:root="true" ma:fieldsID="9b59bc757ef0bcd93609dfd947085087" ns2:_="" ns3:_="">
    <xsd:import namespace="e4f918c6-1cd1-488d-9ccc-eb7305c33331"/>
    <xsd:import namespace="e184df55-e762-47d8-8617-b03ab0cd38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f918c6-1cd1-488d-9ccc-eb7305c333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aa6930a-261e-48e3-890f-2cc23a7ffb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4df55-e762-47d8-8617-b03ab0cd384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d397d74-5c33-4710-b73f-1a4b3dd3312b}" ma:internalName="TaxCatchAll" ma:showField="CatchAllData" ma:web="e184df55-e762-47d8-8617-b03ab0cd38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184df55-e762-47d8-8617-b03ab0cd384a" xsi:nil="true"/>
    <lcf76f155ced4ddcb4097134ff3c332f xmlns="e4f918c6-1cd1-488d-9ccc-eb7305c3333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6162E96-E9B8-4390-92C5-636110AAF5C5}"/>
</file>

<file path=customXml/itemProps2.xml><?xml version="1.0" encoding="utf-8"?>
<ds:datastoreItem xmlns:ds="http://schemas.openxmlformats.org/officeDocument/2006/customXml" ds:itemID="{B8F4D2A5-7541-4DCE-A0D8-EC187F1D1845}"/>
</file>

<file path=customXml/itemProps3.xml><?xml version="1.0" encoding="utf-8"?>
<ds:datastoreItem xmlns:ds="http://schemas.openxmlformats.org/officeDocument/2006/customXml" ds:itemID="{DA6D0531-A847-4684-BD8E-70ABD60F410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2026-08-25T15:14:16Z</dcterms:created>
  <dcterms:modified xsi:type="dcterms:W3CDTF">2026-08-25T15:14:16Z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0x010100955D54C4BE8209459CDD442853243339</vt:lpwstr>
  </property>
  <property fmtid="{D5CDD505-2E9C-101B-9397-08002B2CF9AE}" pid="3" name="MediaServiceImageTags">
    <vt:lpwstr/>
  </property>
</Properties>
</file>