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live site if the connection allows: opalera.onrender.com. The hero is animated — aurora, sparkles, floating gems.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members. Everyone touched both sides; these were the primary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proposal in one breath: trust, honest prices, and the rating system as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headline: since the progress update the whole back-end landed. One Node server hosts the site and the API; no frameworks, no npm installs.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line of the marking sheet is done, plus three bonus features. Point at the four that were 'in progress' in August: database, invoices, user management,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a page loads, the shared script asks the API, the server reads or writes the JSON database. Nothing sensitive ever leaves the server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demo script in one picture. Follow the numbers when you show the live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image in this deck is a real screenshot of the running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Filters: category, search, price band. Sort: price and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dataset requirement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Stock, price and description here come from the server — edit a piece in the console and this page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proposal's differentiator. Explain 'verified': the server checks the patron's own order history before stamping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Made-to-order customisations are exempt from the stock rule — they are crafted on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details are only used client-side for the simulated portal; nothing sensitive reaches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sheet asks for at least three transaction rules; there are eight, and the important ones are enforced on the server, not just in the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bonus features live here: the tracking timeline and the QR code that opens it from a printed invoice.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checks are enforced by the server (401/403), not just hidden in the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in one slide. If asked 'where are passwords stored': never — only a salt and a scrypt hash.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data model left to right, then the endpoint list. Everything the pages show comes through these routes.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'Different products sold' read-only text control in the filter bar — a specific marksheet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filter change live if possible — the numbers animate from the old value to the new.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Demonstrate: change a price here, refresh the storefront tab, the card shows the new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record views managers use day to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tick two pieces on the live site and open the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was engineered, not hoped for. Mention the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technical part with how to run it and how the team ships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panel; invite questions; offer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opalera.onrender.com" TargetMode="External"/><Relationship Id="rId4" Type="http://schemas.openxmlformats.org/officeDocument/2006/relationships/hyperlink" Target="https://github.com/Thrivi17/Opalera" TargetMode="Externa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</a:t>
            </a:r>
            <a:endParaRPr lang="en-US" sz="800" dirty="0"/>
          </a:p>
        </p:txBody>
      </p:sp>
      <p:pic>
        <p:nvPicPr>
          <p:cNvPr id="12" name="Image 0" descr="C:\Users\khuth\AppData\Local\Temp\claude\C--Users-khuth-Blue-Vision-AI-Ompha---Ompha-informatics2B-Quantum-coders\51b1e526-a229-4dd7-88f9-20865f0652e8\scratchpad\shots\01-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0B0A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2700000">
            <a:off x="502920" y="390448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IFM2B10 · GROUP PROJECT · FINAL PRESENTATION · SEPTEMBER 2026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OPALÉRA — The House of Every Gem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45445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B2C fine-jewellery store · Quantum Coders · 80 pieces · 92 pages · Node.js backend · manager console · live at opalera.onrender.com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CODERS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914400" cy="914400"/>
          </a:xfrm>
          <a:prstGeom prst="ellipse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Tsongorera RJN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225059699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· Backend developer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56032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01752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783080"/>
            <a:ext cx="914400" cy="914400"/>
          </a:xfrm>
          <a:prstGeom prst="ellipse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65176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Thedzisani KOP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224098795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269748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66344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12064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783080"/>
            <a:ext cx="914400" cy="914400"/>
          </a:xfrm>
          <a:prstGeom prst="ellipse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5488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Madhavan T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47548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225139703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480060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developer · Database creator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76656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22376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783080"/>
            <a:ext cx="914400" cy="914400"/>
          </a:xfrm>
          <a:prstGeom prst="ellipse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685800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Mtshare B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85800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225226751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90372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the 80-piece Kaggle jewellery database · necklaces, earrings &amp; pendants · R 959 – R 6 799  ·  Source: github.com/Thrivi17/Opalera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PROPOSAL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OPALÉRA Exists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jewellery online is a gamble — fake stones, no recourse, real pieces priced beyond a normal salary. OPALÉRA answers with a maison you can trust.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" y="2240280"/>
            <a:ext cx="2606040" cy="22860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2578608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85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authentic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68580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carries its own certificate of authenticity; the maison refunds in full if a stone is ever misrepresented.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246120" y="2240280"/>
            <a:ext cx="2606040" cy="22860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47472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578608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4747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prices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347472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Direct-from-atelier pricing from R 959, VAT included, with the comparable boutique estimate and instalment framing on every piece.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035040" y="2240280"/>
            <a:ext cx="2606040" cy="22860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26364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5786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636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rating system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626364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ratings, written patron reviews with a verified-purchase badge, and thumbs votes — visible before you pay.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PROGRESS UPDATE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DATABASE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856232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4200" dirty="0"/>
          </a:p>
        </p:txBody>
      </p:sp>
      <p:sp>
        <p:nvSpPr>
          <p:cNvPr id="18" name="Text 15"/>
          <p:cNvSpPr txBox="1"/>
          <p:nvPr/>
        </p:nvSpPr>
        <p:spPr>
          <a:xfrm>
            <a:off x="1856232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3255264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200" dirty="0"/>
          </a:p>
        </p:txBody>
      </p:sp>
      <p:sp>
        <p:nvSpPr>
          <p:cNvPr id="20" name="Text 17"/>
          <p:cNvSpPr txBox="1"/>
          <p:nvPr/>
        </p:nvSpPr>
        <p:spPr>
          <a:xfrm>
            <a:off x="3255264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4654296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22" name="Text 19"/>
          <p:cNvSpPr txBox="1"/>
          <p:nvPr/>
        </p:nvSpPr>
        <p:spPr>
          <a:xfrm>
            <a:off x="4654296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4200" dirty="0"/>
          </a:p>
        </p:txBody>
      </p:sp>
      <p:sp>
        <p:nvSpPr>
          <p:cNvPr id="24" name="Text 21"/>
          <p:cNvSpPr txBox="1"/>
          <p:nvPr/>
        </p:nvSpPr>
        <p:spPr>
          <a:xfrm>
            <a:off x="6053328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452360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26" name="Text 23"/>
          <p:cNvSpPr txBox="1"/>
          <p:nvPr/>
        </p:nvSpPr>
        <p:spPr>
          <a:xfrm>
            <a:off x="7452360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DEPENDENCIES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5720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008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252" y="2945100"/>
            <a:ext cx="199705" cy="199705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server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server.js — routes, scrypt password hashing, httpOnly cookie sessions, server-side totals and stock rules, static hosting of the site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256032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274320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372" y="2945100"/>
            <a:ext cx="199705" cy="199705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274320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database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274320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data/db.json — users, sessions, products, orders, reviews, wishlists, carts, resets; seeded on first run; DATA_DIR for a persistent disk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466344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84632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492" y="2945100"/>
            <a:ext cx="199705" cy="199705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484632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JS layer</a:t>
            </a:r>
            <a:endParaRPr lang="en-US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484632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opalera-data.js — catalogue helpers, the API client, the live catalogue mirror, order tracking; one script for every page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676656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694944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612" y="2945100"/>
            <a:ext cx="199705" cy="199705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94944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694944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→ Render: every push to main redeploys opalera.onrender.com — the same server, site and API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MARKING SHEET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Feature Stands Complete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1536192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00200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0120" y="14630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design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246888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gold-on-midnight system, 92 pages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663440" y="1417320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73168" y="1536192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1600200"/>
            <a:ext cx="146304" cy="1463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66360" y="14630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catalog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667512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service-fed, search · price bands · sort · tabs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57200" y="2020824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66928" y="2139696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03704"/>
            <a:ext cx="146304" cy="1463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60120" y="20665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2468880" y="206654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collections, 80 seeded products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663440" y="2020824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773168" y="2139696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203704"/>
            <a:ext cx="146304" cy="14630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166360" y="20665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service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6675120" y="206654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JSON endpoints, cookie sessions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457200" y="2624328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2807208"/>
            <a:ext cx="146304" cy="14630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60120" y="267004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management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2468880" y="267004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edit · retire · delete, live on the storefront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4663440" y="2624328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773168" y="2743200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176" y="2807208"/>
            <a:ext cx="146304" cy="14630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66360" y="267004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cart</a:t>
            </a:r>
            <a:endParaRPr lang="en-US" sz="1350" dirty="0"/>
          </a:p>
        </p:txBody>
      </p:sp>
      <p:sp>
        <p:nvSpPr>
          <p:cNvPr id="44" name="Text 35"/>
          <p:cNvSpPr txBox="1"/>
          <p:nvPr/>
        </p:nvSpPr>
        <p:spPr>
          <a:xfrm>
            <a:off x="6675120" y="267004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quantities, stock caps, saved per account</a:t>
            </a:r>
            <a:endParaRPr lang="en-US" sz="950" dirty="0"/>
          </a:p>
        </p:txBody>
      </p:sp>
      <p:sp>
        <p:nvSpPr>
          <p:cNvPr id="45" name="Shape 36"/>
          <p:cNvSpPr/>
          <p:nvPr/>
        </p:nvSpPr>
        <p:spPr>
          <a:xfrm>
            <a:off x="457200" y="3227832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566928" y="3346704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" y="3410712"/>
            <a:ext cx="146304" cy="14630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960120" y="327355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Transactions</a:t>
            </a:r>
            <a:endParaRPr lang="en-US" sz="1350" dirty="0"/>
          </a:p>
        </p:txBody>
      </p:sp>
      <p:sp>
        <p:nvSpPr>
          <p:cNvPr id="49" name="Text 39"/>
          <p:cNvSpPr txBox="1"/>
          <p:nvPr/>
        </p:nvSpPr>
        <p:spPr>
          <a:xfrm>
            <a:off x="2468880" y="3273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codes, 15% VAT, stock rule, 3 pay methods</a:t>
            </a:r>
            <a:endParaRPr lang="en-US" sz="950" dirty="0"/>
          </a:p>
        </p:txBody>
      </p:sp>
      <p:sp>
        <p:nvSpPr>
          <p:cNvPr id="50" name="Shape 40"/>
          <p:cNvSpPr/>
          <p:nvPr/>
        </p:nvSpPr>
        <p:spPr>
          <a:xfrm>
            <a:off x="4663440" y="3227832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4773168" y="3346704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7176" y="3410712"/>
            <a:ext cx="146304" cy="146304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5166360" y="327355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Invoices</a:t>
            </a:r>
            <a:endParaRPr lang="en-US" sz="1350" dirty="0"/>
          </a:p>
        </p:txBody>
      </p:sp>
      <p:sp>
        <p:nvSpPr>
          <p:cNvPr id="54" name="Text 43"/>
          <p:cNvSpPr txBox="1"/>
          <p:nvPr/>
        </p:nvSpPr>
        <p:spPr>
          <a:xfrm>
            <a:off x="6675120" y="3273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invoice per order, QR code, printable</a:t>
            </a:r>
            <a:endParaRPr lang="en-US" sz="950" dirty="0"/>
          </a:p>
        </p:txBody>
      </p:sp>
      <p:sp>
        <p:nvSpPr>
          <p:cNvPr id="55" name="Shape 44"/>
          <p:cNvSpPr/>
          <p:nvPr/>
        </p:nvSpPr>
        <p:spPr>
          <a:xfrm>
            <a:off x="457200" y="3831336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566928" y="3950208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4014216"/>
            <a:ext cx="146304" cy="146304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960120" y="38770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management</a:t>
            </a:r>
            <a:endParaRPr lang="en-US" sz="1350" dirty="0"/>
          </a:p>
        </p:txBody>
      </p:sp>
      <p:sp>
        <p:nvSpPr>
          <p:cNvPr id="59" name="Text 47"/>
          <p:cNvSpPr txBox="1"/>
          <p:nvPr/>
        </p:nvSpPr>
        <p:spPr>
          <a:xfrm>
            <a:off x="2468880" y="38770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· login · reset · patron &amp; manager roles</a:t>
            </a:r>
            <a:endParaRPr lang="en-US" sz="950" dirty="0"/>
          </a:p>
        </p:txBody>
      </p:sp>
      <p:sp>
        <p:nvSpPr>
          <p:cNvPr id="60" name="Shape 48"/>
          <p:cNvSpPr/>
          <p:nvPr/>
        </p:nvSpPr>
        <p:spPr>
          <a:xfrm>
            <a:off x="4663440" y="3831336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4773168" y="3950208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37176" y="4014216"/>
            <a:ext cx="146304" cy="146304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5166360" y="38770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</a:t>
            </a:r>
            <a:endParaRPr lang="en-US" sz="1350" dirty="0"/>
          </a:p>
        </p:txBody>
      </p:sp>
      <p:sp>
        <p:nvSpPr>
          <p:cNvPr id="64" name="Text 51"/>
          <p:cNvSpPr txBox="1"/>
          <p:nvPr/>
        </p:nvSpPr>
        <p:spPr>
          <a:xfrm>
            <a:off x="6675120" y="38770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filters, distinct-products control, stock, users/day, 6 KPIs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66" name="Text 53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 ·  compare pieces side by side  ·  live order-tracking timeline  ·  QR code on every invoice  ·  the Studio customiser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ARCHITECTURE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Request, End to End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584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1726387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pages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56692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static HTML pages in pages/ — storefront, product pages, checkout, account, console. Plain HTML/CSS/JS, no framework.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197510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14884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69748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235" y="1726387"/>
            <a:ext cx="213970" cy="21397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24028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layer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225856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opalera-data.js on every page: catalogue helpers, the api() client (fetch + cookies), the live catalogue mirror, tracking logic.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366674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384048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8912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875" y="1726387"/>
            <a:ext cx="213970" cy="21397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93192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service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395020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/api/… — 24 JSON endpoints. Cookies carry the session; the server decides who may do what (401 / 403).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535838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53212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08076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515" y="1726387"/>
            <a:ext cx="213970" cy="21397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562356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server.js</a:t>
            </a:r>
            <a:endParaRPr lang="en-US" sz="1350" dirty="0"/>
          </a:p>
        </p:txBody>
      </p:sp>
      <p:sp>
        <p:nvSpPr>
          <p:cNvPr id="37" name="Text 30"/>
          <p:cNvSpPr txBox="1"/>
          <p:nvPr/>
        </p:nvSpPr>
        <p:spPr>
          <a:xfrm>
            <a:off x="564184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Node's http module only. Validates every input, recomputes totals, applies stock rules, hashes passwords, serves the site.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705002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722376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777240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1155" y="1726387"/>
            <a:ext cx="213970" cy="21397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731520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db.json</a:t>
            </a:r>
            <a:endParaRPr lang="en-US" sz="1350" dirty="0"/>
          </a:p>
        </p:txBody>
      </p:sp>
      <p:sp>
        <p:nvSpPr>
          <p:cNvPr id="43" name="Text 35"/>
          <p:cNvSpPr txBox="1"/>
          <p:nvPr/>
        </p:nvSpPr>
        <p:spPr>
          <a:xfrm>
            <a:off x="733348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collections in one JSON file, saved with a debounce. Seeded on first run; migrated on start; DATA_DIR for a persistent disk.</a:t>
            </a:r>
            <a:endParaRPr lang="en-US" sz="850" dirty="0"/>
          </a:p>
        </p:txBody>
      </p:sp>
      <p:sp>
        <p:nvSpPr>
          <p:cNvPr id="44" name="Text 36"/>
          <p:cNvSpPr txBox="1"/>
          <p:nvPr/>
        </p:nvSpPr>
        <p:spPr>
          <a:xfrm>
            <a:off x="45720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patron opens a product page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paints from the bundled catalogue instantly, then GET /api/products patches live price, stock and retired flags in place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45720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patron checks out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/api/orders — the server recomputes item totals, discount and VAT, refuses over-ordering, deducts stock, clears the cart, stores the order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457200" y="42793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edits a piece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/api/products/:id (manager cookie) — saved to db.json; every storefront tab and product page shows the change on its next fetch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457200" y="45354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to main → Render rebuilds and restarts the same server; the database re-seeds from the repo's copy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THE CUSTOMER JOURNEY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Arrival to Delivered, in Eight Steps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162763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9436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Arrive &amp; browse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Tabs, search, price bands, sort by price or name; wishlist hearts and compare ticks on every card.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2386584" y="21031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56032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69748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9748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1627632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69748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a piece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269748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page: photos, price, stock, rating, reviews, certificate, comparable boutique estimate.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4489704" y="21031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66344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80060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48006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2763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80060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Customise (optional)</a:t>
            </a:r>
            <a:endParaRPr lang="en-US" sz="1300" dirty="0"/>
          </a:p>
        </p:txBody>
      </p:sp>
      <p:sp>
        <p:nvSpPr>
          <p:cNvPr id="34" name="Text 28"/>
          <p:cNvSpPr txBox="1"/>
          <p:nvPr/>
        </p:nvSpPr>
        <p:spPr>
          <a:xfrm>
            <a:off x="480060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Studio: pattern, removable elements, add a pendant, a 30-character inscription — priced live.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6592824" y="21031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76656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90372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0372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627632"/>
            <a:ext cx="256032" cy="25603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690372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90372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capped by stock, customisations itemised; saved on the server once signed in.</a:t>
            </a:r>
            <a:endParaRPr lang="en-US" sz="850" dirty="0"/>
          </a:p>
        </p:txBody>
      </p:sp>
      <p:sp>
        <p:nvSpPr>
          <p:cNvPr id="42" name="Shape 35"/>
          <p:cNvSpPr/>
          <p:nvPr/>
        </p:nvSpPr>
        <p:spPr>
          <a:xfrm>
            <a:off x="45720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59436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9436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92" y="3227832"/>
            <a:ext cx="256032" cy="256032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59436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 / register</a:t>
            </a:r>
            <a:endParaRPr lang="en-US" sz="1300" dirty="0"/>
          </a:p>
        </p:txBody>
      </p:sp>
      <p:sp>
        <p:nvSpPr>
          <p:cNvPr id="47" name="Text 39"/>
          <p:cNvSpPr txBox="1"/>
          <p:nvPr/>
        </p:nvSpPr>
        <p:spPr>
          <a:xfrm>
            <a:off x="59436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password (scrypt-hashed). Guest bag and wishlist merge into the account.</a:t>
            </a:r>
            <a:endParaRPr lang="en-US" sz="850" dirty="0"/>
          </a:p>
        </p:txBody>
      </p:sp>
      <p:sp>
        <p:nvSpPr>
          <p:cNvPr id="48" name="Shape 40"/>
          <p:cNvSpPr/>
          <p:nvPr/>
        </p:nvSpPr>
        <p:spPr>
          <a:xfrm>
            <a:off x="2386584" y="37033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256032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269748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269748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6512" y="3227832"/>
            <a:ext cx="256032" cy="256032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269748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</a:t>
            </a:r>
            <a:endParaRPr lang="en-US" sz="1300" dirty="0"/>
          </a:p>
        </p:txBody>
      </p:sp>
      <p:sp>
        <p:nvSpPr>
          <p:cNvPr id="54" name="Text 45"/>
          <p:cNvSpPr txBox="1"/>
          <p:nvPr/>
        </p:nvSpPr>
        <p:spPr>
          <a:xfrm>
            <a:off x="269748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address (all nine provinces), promo code, gift wrap; Card, Instant EFT or pay-at-counter; 15% VAT shown inside the total.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4489704" y="37033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466344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480060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48006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9632" y="3227832"/>
            <a:ext cx="256032" cy="256032"/>
          </a:xfrm>
          <a:prstGeom prst="rect">
            <a:avLst/>
          </a:prstGeom>
        </p:spPr>
      </p:pic>
      <p:sp>
        <p:nvSpPr>
          <p:cNvPr id="60" name="Text 50"/>
          <p:cNvSpPr txBox="1"/>
          <p:nvPr/>
        </p:nvSpPr>
        <p:spPr>
          <a:xfrm>
            <a:off x="480060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</a:t>
            </a:r>
            <a:endParaRPr lang="en-US" sz="1300" dirty="0"/>
          </a:p>
        </p:txBody>
      </p:sp>
      <p:sp>
        <p:nvSpPr>
          <p:cNvPr id="61" name="Text 51"/>
          <p:cNvSpPr txBox="1"/>
          <p:nvPr/>
        </p:nvSpPr>
        <p:spPr>
          <a:xfrm>
            <a:off x="480060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 invoice is generated from the server's order record — printable, with a QR code.</a:t>
            </a:r>
            <a:endParaRPr lang="en-US" sz="850" dirty="0"/>
          </a:p>
        </p:txBody>
      </p:sp>
      <p:sp>
        <p:nvSpPr>
          <p:cNvPr id="62" name="Shape 52"/>
          <p:cNvSpPr/>
          <p:nvPr/>
        </p:nvSpPr>
        <p:spPr>
          <a:xfrm>
            <a:off x="6592824" y="37033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676656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64" name="Shape 54"/>
          <p:cNvSpPr/>
          <p:nvPr/>
        </p:nvSpPr>
        <p:spPr>
          <a:xfrm>
            <a:off x="690372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55"/>
          <p:cNvSpPr txBox="1"/>
          <p:nvPr/>
        </p:nvSpPr>
        <p:spPr>
          <a:xfrm>
            <a:off x="690372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pic>
        <p:nvPicPr>
          <p:cNvPr id="6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2752" y="3227832"/>
            <a:ext cx="256032" cy="256032"/>
          </a:xfrm>
          <a:prstGeom prst="rect">
            <a:avLst/>
          </a:prstGeom>
        </p:spPr>
      </p:pic>
      <p:sp>
        <p:nvSpPr>
          <p:cNvPr id="67" name="Text 56"/>
          <p:cNvSpPr txBox="1"/>
          <p:nvPr/>
        </p:nvSpPr>
        <p:spPr>
          <a:xfrm>
            <a:off x="690372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&amp; account</a:t>
            </a:r>
            <a:endParaRPr lang="en-US" sz="1300" dirty="0"/>
          </a:p>
        </p:txBody>
      </p:sp>
      <p:sp>
        <p:nvSpPr>
          <p:cNvPr id="68" name="Text 57"/>
          <p:cNvSpPr txBox="1"/>
          <p:nvPr/>
        </p:nvSpPr>
        <p:spPr>
          <a:xfrm>
            <a:off x="690372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timeline Placed → Paid → Packed → Shipped → Delivered; order history and invoices under My Account.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WEBSITE DESIGN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 at the Maison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1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aurora, sparkle field and floating gems behind every page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gold-on-midnight design system across all 92 pages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strip on arrival: rating · authenticity · returns · from R 959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Sign-in, wishlist and bag in the nav — the counts go live the moment a patron signs in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DONE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9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PRODUCT CATALOG + WEB SERVICE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Collection — Fed by the Service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2-col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catalogue is retrieved from the database through GET /api/products — prices, photos, stock and retired pieces update live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tabs with live counts, search, four price bands and sorting by price or name (the two sort criteria)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“Showing 80 of 80 pieces” honesty line; wishlist hearts and a compare tick on every card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opens the piece's own page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2020824" y="4315968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020824" y="4315968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DONE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10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THE DATASET, VISUALISED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Atelier, in Numbers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4-atel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 counters computed from the catalogue: 80 pieces, 3 collections, average price R 2 949, crown piece R 6 799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per collection and average price per collection, coloured by gem accent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animate in as the visitor scrolls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recomputes if the manager adds or retires pieces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DONE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ONE PAGE PER PIECE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 Page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4-pro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description for all 80 pieces, plus craftsmanship specs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stock from the database — “Only 3 left in the vault”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Stars, thumbs votes and “% recommend”; reviews with the verified-purchase badge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boutique estimate, instalments, certificate of authenticity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Manager-added pieces get a page automatically (product.html?id=…)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76479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7200" y="4645152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7200" y="464515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· LIVE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THE RATING SYSTEM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Ratings You Can Trust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 ratings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shows an average out of 5 and the review count. Patron reviews posted through the site are blended into the seeded baseline, so the number moves as real reviews arrive.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63440" y="146304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2803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81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8523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 reviews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4828032" y="206654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Signed-in patrons write a review (1–5 stars, up to 240 characters) on any piece — POST /api/reviews. A patron may delete their own; a manager may delete any.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15468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1792" y="331927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3407054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8992" y="33192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purchase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621792" y="375818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review is posted the server looks through that patron's orders; if the piece is there the review is stamped VERIFIED. Nobody can fake the badge from the browser.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663440" y="315468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828032" y="331927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5814" y="3407054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85232" y="33192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Thumbs &amp; “% recommend”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4828032" y="375818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vote per browser per piece, tap again to undo. The console's Engagement tab ranks pieces by recommend share and shows the split by collection.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BEYOND THE BRIEF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Studio — Customisation, With Rules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3-st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any piece, then: design pattern, removable elements, add a pendant from the collection, a hand-engraved inscription (+ R 89)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 is never changed — locked on screen; signature pieces allow the inscription only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30-character inscription with a content filter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live; the customised piece is carried to the bag, the invoice and the order record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CART + TRANSACTION PROCESSING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Checkout: Quantities, Rules &amp; VAT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5-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with quantities, capped by real stock; customisations itemised; saved per account on the server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 (GEM10 / WELCOME10), complimentary gift wrap, delivery address with all nine provinces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(simulated, never stored), Instant EFT or pay-at-counter — totals recomputed on the server so the client can't tamper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deducted on the server the moment the order is placed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220724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22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7200" y="4645152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7200" y="4645152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· DONE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BUSINESS RULES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Rules, Enforced Where It Counts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 codes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GEM10 / WELCOME10 take 10% off the items. The discount is capped at the items total and re-applied server-side.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256032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72491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69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18211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VAT inside the price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272491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VAT-inclusive; VAT = total × 15 / 115 is shown on the bag, the checkout and the invoice.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66344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82803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5814" y="1715414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28523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over-ordering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482803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rule: an order for more units than the vault holds is refused — “Only 18 of Sapphire Necklace left”. Retired pieces are refused too.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676656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693115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934" y="1715414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8835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capped by stock</a:t>
            </a:r>
            <a:endParaRPr lang="en-US" sz="1250" dirty="0"/>
          </a:p>
        </p:txBody>
      </p:sp>
      <p:sp>
        <p:nvSpPr>
          <p:cNvPr id="34" name="Text 27"/>
          <p:cNvSpPr txBox="1"/>
          <p:nvPr/>
        </p:nvSpPr>
        <p:spPr>
          <a:xfrm>
            <a:off x="693115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bag's + button stops at the live stock figure; stock is deducted on the server at checkout.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45720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62179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74" y="3452774"/>
            <a:ext cx="190195" cy="19019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107899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Signature pieces</a:t>
            </a:r>
            <a:endParaRPr lang="en-US" sz="1250" dirty="0"/>
          </a:p>
        </p:txBody>
      </p:sp>
      <p:sp>
        <p:nvSpPr>
          <p:cNvPr id="39" name="Text 31"/>
          <p:cNvSpPr txBox="1"/>
          <p:nvPr/>
        </p:nvSpPr>
        <p:spPr>
          <a:xfrm>
            <a:off x="62179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 is never customisable; signature pieces allow an inscription only.</a:t>
            </a:r>
            <a:endParaRPr 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256032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272491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2694" y="3452774"/>
            <a:ext cx="190195" cy="19019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18211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Inscription filter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272491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characters, hand-engraved at + R 89, with a content filter on the text.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466344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82803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5814" y="3452774"/>
            <a:ext cx="190195" cy="190195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528523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&amp; collection</a:t>
            </a:r>
            <a:endParaRPr lang="en-US" sz="1250" dirty="0"/>
          </a:p>
        </p:txBody>
      </p:sp>
      <p:sp>
        <p:nvSpPr>
          <p:cNvPr id="49" name="Text 39"/>
          <p:cNvSpPr txBox="1"/>
          <p:nvPr/>
        </p:nvSpPr>
        <p:spPr>
          <a:xfrm>
            <a:off x="482803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address requires one of the nine provinces; pay-at-counter orders skip the address and are reserved, not paid.</a:t>
            </a:r>
            <a:endParaRPr lang="en-US" sz="850" dirty="0"/>
          </a:p>
        </p:txBody>
      </p:sp>
      <p:sp>
        <p:nvSpPr>
          <p:cNvPr id="50" name="Shape 40"/>
          <p:cNvSpPr/>
          <p:nvPr/>
        </p:nvSpPr>
        <p:spPr>
          <a:xfrm>
            <a:off x="676656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693115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934" y="3452774"/>
            <a:ext cx="190195" cy="190195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738835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reviews</a:t>
            </a:r>
            <a:endParaRPr lang="en-US" sz="1250" dirty="0"/>
          </a:p>
        </p:txBody>
      </p:sp>
      <p:sp>
        <p:nvSpPr>
          <p:cNvPr id="54" name="Text 43"/>
          <p:cNvSpPr txBox="1"/>
          <p:nvPr/>
        </p:nvSpPr>
        <p:spPr>
          <a:xfrm>
            <a:off x="693115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is marked verified only if the server finds the piece in that patron's own orders.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INVOICES + ORDER TRACKING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 Invoice — and Where Your Order Is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8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977640" cy="248716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66344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C:\Users\khuth\AppData\Local\Temp\claude\C--Users-khuth-Blue-Vision-AI-Ompha---Ompha-informatics2B-Quantum-coders\51b1e526-a229-4dd7-88f9-20865f0652e8\scratchpad\shots\07-tra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17320"/>
            <a:ext cx="3977640" cy="2487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invoice · generated from the server's order record: letterhead, invoice №, date, method, line items with inscriptions, discount and VAT broken out, print / save as PDF.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timeline · Placed → Paid → Packed → Shipped → Delivered (a collection path for pay-at-counter), advancing with time; the QR on the invoice opens it.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4572000"/>
            <a:ext cx="1531620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4572000"/>
            <a:ext cx="1531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· DONE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09160" y="4572000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09160" y="4572000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· ROLES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Visitor, Three Doors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6-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— browses, searches, votes, reads reviews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— registers (scrypt-hashed password, httpOnly cookie session); wishlist and bag saved on the server; orders, verified reviews, order history &amp; invoices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— a separate console session (role “manager” on the server); patron accounts are refused; managers can also remove a patron account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Forgot-password: one-time 6-digit code, single use, 15-minute expiry; show-password eye on every field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· DONE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7031736" y="4645152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31736" y="46451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DONE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ACCOUNTS &amp; SESSIONS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In, Stay In, Reset Safely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Passwords are never stored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account keeps a random salt and an scrypt hash; sign-in compares hashes in constant time. Minimum 6 characters; emails validated and de-duplicated.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261360" y="146304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42595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73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883152" y="162763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 sessions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3425952" y="206654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32-byte token in an httpOnly, SameSite cookie — invisible to page scripts — valid 30 days. Log out destroys it on the server.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065520" y="146304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011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94" y="1715414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87312" y="162763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doors, two cookies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6230112" y="206654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sessions and manager sessions use different cookies, so a customer signed in on the storefront and the manager in the console never collide.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57200" y="320040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62179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3452774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078992" y="336499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Forgot password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380390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6-digit code (email delivery is simulated for the demo), 15-minute expiry, 5 attempts, single use; every other session is signed out on reset.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3261360" y="320040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42595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3734" y="3452774"/>
            <a:ext cx="190195" cy="19019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3883152" y="336499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Bags that follow you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3425952" y="380390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guest's bag and wishlist are merged into the account on sign-in and pushed to the server; the pages mirror the signed-in patron locally for instant paint.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6065520" y="320040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623011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7894" y="3452774"/>
            <a:ext cx="190195" cy="19019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687312" y="336499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on the server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6230112" y="380390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/ manager stored per account; manager-only routes answer 401 without a session and 403 to a patron. The backend folder is never served over HTTP.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19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+ WEB SERVICE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Server, Eight Collections, 24 Endpoints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6868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names · scrypt salt+hash · role · createdAt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56032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554480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97180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69748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→ email · expiry (patron &amp; manager scopes)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466344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5448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7492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80060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pieces: category · name · price · img · desc · stock · hidden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676656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554480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7804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orders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90372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 · items · totals · VAT · promo · gift · address · method · status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45720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68880"/>
            <a:ext cx="201168" cy="20116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868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· stars · text · verified · patron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256032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7480" y="246888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97180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wishlists · carts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269748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patron, merged on sign-in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466344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468880"/>
            <a:ext cx="201168" cy="20116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7492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resets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480060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codes with expiry &amp; attempt limit</a:t>
            </a:r>
            <a:endParaRPr lang="en-US" sz="850" dirty="0"/>
          </a:p>
        </p:txBody>
      </p:sp>
      <p:sp>
        <p:nvSpPr>
          <p:cNvPr id="43" name="Shape 33"/>
          <p:cNvSpPr/>
          <p:nvPr/>
        </p:nvSpPr>
        <p:spPr>
          <a:xfrm>
            <a:off x="6766560" y="2331720"/>
            <a:ext cx="1920240" cy="804672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6903720" y="23957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the demo: delete db.json — the catalogue re-seeds and the manager account is recreated on the next run.</a:t>
            </a:r>
            <a:endParaRPr lang="en-US" sz="850" dirty="0"/>
          </a:p>
        </p:txBody>
      </p:sp>
      <p:sp>
        <p:nvSpPr>
          <p:cNvPr id="45" name="Text 35"/>
          <p:cNvSpPr txBox="1"/>
          <p:nvPr/>
        </p:nvSpPr>
        <p:spPr>
          <a:xfrm>
            <a:off x="457200" y="33375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50" dirty="0"/>
          </a:p>
        </p:txBody>
      </p:sp>
      <p:sp>
        <p:nvSpPr>
          <p:cNvPr id="46" name="Text 36"/>
          <p:cNvSpPr txBox="1"/>
          <p:nvPr/>
        </p:nvSpPr>
        <p:spPr>
          <a:xfrm>
            <a:off x="1554480" y="3337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signup · login · forgot · reset · logout  ·  GET me · admin/me</a:t>
            </a:r>
            <a:endParaRPr lang="en-US" sz="1050" dirty="0"/>
          </a:p>
        </p:txBody>
      </p:sp>
      <p:sp>
        <p:nvSpPr>
          <p:cNvPr id="47" name="Text 37"/>
          <p:cNvSpPr txBox="1"/>
          <p:nvPr/>
        </p:nvSpPr>
        <p:spPr>
          <a:xfrm>
            <a:off x="457200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850" dirty="0"/>
          </a:p>
        </p:txBody>
      </p:sp>
      <p:sp>
        <p:nvSpPr>
          <p:cNvPr id="48" name="Text 38"/>
          <p:cNvSpPr txBox="1"/>
          <p:nvPr/>
        </p:nvSpPr>
        <p:spPr>
          <a:xfrm>
            <a:off x="1554480" y="370332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products  ·  POST / PUT /:id / DELETE /:id (manager)</a:t>
            </a:r>
            <a:endParaRPr lang="en-US" sz="1050" dirty="0"/>
          </a:p>
        </p:txBody>
      </p:sp>
      <p:sp>
        <p:nvSpPr>
          <p:cNvPr id="49" name="Text 39"/>
          <p:cNvSpPr txBox="1"/>
          <p:nvPr/>
        </p:nvSpPr>
        <p:spPr>
          <a:xfrm>
            <a:off x="457200" y="4069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</a:t>
            </a:r>
            <a:endParaRPr lang="en-US" sz="850" dirty="0"/>
          </a:p>
        </p:txBody>
      </p:sp>
      <p:sp>
        <p:nvSpPr>
          <p:cNvPr id="50" name="Text 40"/>
          <p:cNvSpPr txBox="1"/>
          <p:nvPr/>
        </p:nvSpPr>
        <p:spPr>
          <a:xfrm>
            <a:off x="1554480" y="406908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GET/PUT cart  ·  GET/PUT wishlist  ·  GET/POST orders  ·  GET reviews, reviews/:pid  ·  POST / DELETE reviews</a:t>
            </a:r>
            <a:endParaRPr lang="en-US" sz="1050" dirty="0"/>
          </a:p>
        </p:txBody>
      </p:sp>
      <p:sp>
        <p:nvSpPr>
          <p:cNvPr id="51" name="Text 41"/>
          <p:cNvSpPr txBox="1"/>
          <p:nvPr/>
        </p:nvSpPr>
        <p:spPr>
          <a:xfrm>
            <a:off x="457200" y="4434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52" name="Text 42"/>
          <p:cNvSpPr txBox="1"/>
          <p:nvPr/>
        </p:nvSpPr>
        <p:spPr>
          <a:xfrm>
            <a:off x="1554480" y="443484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admin/orders  ·  GET admin/users  ·  DELETE admin/users/:email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20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MANAGER'S CONSOLE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Back Office in the Same World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0-console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manager sign-in — verified by the server; patrons are refused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KPI cards that count up: pieces sold with an improving / declining verdict, revenue, orders &amp; average order, different products sold, stock on hand, new patrons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grow into place: units per month with the revenue line, sales-by-collection donut, units by province, users per day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indicator, greeting and toasts — the same midnight-and-gold as the storefront; keyboard-navigable tabs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MGMT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DONE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FILTERING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Reports: Data Decides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1-console-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period (all time · 30 / 90 days · this year · custom months), collection, province and source — every figure recalculates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Values: pieces sold + growth verdict, revenue, orders &amp; average order, different products sold (text control), stock on hand &amp; vault value by collection, registered users per day, best sellers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history is clearly labelled; live orders from the database merge on top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chart is drawn by hand on a canvas — no chart library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065276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065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1632204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632204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ON HAND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57200" y="4645152"/>
            <a:ext cx="1220724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" y="4645152"/>
            <a:ext cx="122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DAY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1787652" y="4645152"/>
            <a:ext cx="1687068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787652" y="4645152"/>
            <a:ext cx="1687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PRODUCTS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Add, Edit, Retire, Delete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7-consol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piece: name, collection, price, stock, photo (with preview) and description → POST /api/products; it gets a product page automatically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piece in place (shown: Heart Necklace) → PUT /api/products/:id; the storefront and its product page update immediately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stock control; low-stock and out-of-stock flags; retire hides a piece while keeping its history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removes it from the database; search and status filters over all 80 pieces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90982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909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3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6643116" y="4315968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643116" y="431596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· 5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5623560" y="464515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623560" y="46451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· 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MANAGER'S CONSOLE · RECORDS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Order, Every Patron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5-console-or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977640" cy="248716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66344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C:\Users\khuth\AppData\Local\Temp\claude\C--Users-khuth-Blue-Vision-AI-Ompha---Ompha-informatics2B-Quantum-coders\51b1e526-a229-4dd7-88f9-20865f0652e8\scratchpad\shots\16-console-patr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17320"/>
            <a:ext cx="3977640" cy="2487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· every order from every patron, newest first: reference, date, customer, destination, items, VAT, total, method, status; search by reference or email, filter by method; open the invoice.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Patrons · every account with role, sign-up date and order count; sign-ups by day beside it. Managers can remove a patron account (managers are protected).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4572000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457200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DONE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09160" y="4572000"/>
            <a:ext cx="1609344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09160" y="457200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 · DONE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· BEYOND THE BRIEF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Compare, Track, Scan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3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pieces — tick up to three; a side-by-side table of photo, price (“Best price”), stone, metal, rating (“Top rated”) and availability, with add-to-bag in place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 — a live timeline per order, with status chips and ETA on the account page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on every invoice — printed invoices open the order's tracking page from a phone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the Studio customiser, and a motion system that respects reduced-motion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SECURITY &amp; ACCESSIBILITY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Trusted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automated checks — local and live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&amp; static blocking, sign-up / login / reset, cart, wishlist, orders with server-side totals, the stock rule, reviews, roles, product CRUD and validation, then cleanup of its own test data — all passing against localhost and against opalera.onrender.com.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63440" y="1463040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2803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81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8523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Browser-verified pages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828032" y="2066544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loaded with zero console errors; compare, tracking, invoice QR, account and the console exercised end to end; keyboard navigation checked.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218688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1792" y="3383280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3471062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8992" y="3383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by default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621792" y="3822192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scrypt password hashes with per-user salt, constant-time comparison, httpOnly SameSite cookies, server-recomputed totals and stock rules, the backend folder never served over HTTP, role checks on the server, a curated seed database with no tokens.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663440" y="3218688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828032" y="3383280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5814" y="3471062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85232" y="3383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Accessible &amp; considerate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4828032" y="3822192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Reduced-motion switch, WAI-ARIA tabs with arrow keys, live regions, focus rings, colour contrast checked; a multi-agent review found and fixed 29 defects before release.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· HOW TO RUN · HOW WE SHIP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Render, Runs Anywhere Node Does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32004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LOCALLY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1874520"/>
            <a:ext cx="3566160" cy="411480"/>
          </a:xfrm>
          <a:prstGeom prst="rect">
            <a:avLst/>
          </a:prstGeom>
          <a:solidFill>
            <a:srgbClr val="0B0A10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opalera-backend/server.js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24231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http://localhost:3000 — it redirects to the storefront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 hosts the whole site and its API; no installs, no build step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in opalera-backend/data/db.json (or DATA_DIR), created on first run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 </a:t>
            </a:r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demo@example.com / demo123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manager@opalera.co.za / Opalera2026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663440" y="1417320"/>
            <a:ext cx="4023360" cy="32004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92040" y="160020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990" y="1701150"/>
            <a:ext cx="218724" cy="21872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406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site</a:t>
            </a:r>
            <a:endParaRPr lang="en-US" sz="1600" dirty="0"/>
          </a:p>
        </p:txBody>
      </p:sp>
      <p:sp>
        <p:nvSpPr>
          <p:cNvPr id="25" name="Text 21">
            <a:hlinkClick r:id="rId2" tooltip=""/>
          </p:cNvPr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E9DC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opalera.onrender.com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 /pages/jewellery_Html.html  ·  Console  /pages/admin.html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892040" y="292608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90" y="3027030"/>
            <a:ext cx="218724" cy="21872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440680" y="2953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&amp; workflow</a:t>
            </a:r>
            <a:endParaRPr lang="en-US" sz="1600" dirty="0"/>
          </a:p>
        </p:txBody>
      </p:sp>
      <p:sp>
        <p:nvSpPr>
          <p:cNvPr id="30" name="Text 25">
            <a:hlinkClick r:id="rId4" tooltip=""/>
          </p:cNvPr>
          <p:cNvSpPr txBox="1"/>
          <p:nvPr/>
        </p:nvSpPr>
        <p:spPr>
          <a:xfrm>
            <a:off x="4892040" y="34015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E9DC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github.com/Thrivi17/Opalera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4892040" y="37673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members commit to main as collaborators; every push redeploys the live site within minutes. The seed database, docs and presentation live in the repo.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27</a:t>
            </a:r>
            <a:endParaRPr lang="en-US" sz="800" dirty="0"/>
          </a:p>
        </p:txBody>
      </p:sp>
      <p:pic>
        <p:nvPicPr>
          <p:cNvPr id="12" name="Image 0" descr="C:\Users\khuth\AppData\Local\Temp\claude\C--Users-khuth-Blue-Vision-AI-Ompha---Ompha-informatics2B-Quantum-coders\51b1e526-a229-4dd7-88f9-20865f0652e8\scratchpad\shots\02-collection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A10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2700000">
            <a:off x="4443984" y="1600200"/>
            <a:ext cx="256032" cy="256032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4400" y="1965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1800" kern="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OPALÉRA</a:t>
            </a:r>
            <a:endParaRPr lang="en-US" sz="54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8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 OF EVERY GEM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49C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questions, and a live demonstration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Coders · Tsongorera RJN · Thedzisani KOP · Madhavan T · Mtshare B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OPALÉRA — Final Project Presentation</dc:title>
  <dc:subject>PptxGenJS Presentation</dc:subject>
  <dc:creator>Quantum Coders</dc:creator>
  <cp:lastModifiedBy>Quantum Coders</cp:lastModifiedBy>
  <cp:revision>1</cp:revision>
  <dcterms:created xsi:type="dcterms:W3CDTF">2026-09-13T11:37:15Z</dcterms:created>
  <dcterms:modified xsi:type="dcterms:W3CDTF">2026-09-13T11:37:15Z</dcterms:modified>
</cp:coreProperties>
</file>