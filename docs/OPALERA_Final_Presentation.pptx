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g"/>
  <Default Extension="m4v" ContentType="video/mp4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1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customXml" Target="../customXml/item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28" Type="http://schemas.openxmlformats.org/officeDocument/2006/relationships/customXml" Target="../customXml/item3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openxmlformats.org/officeDocument/2006/relationships/customXml" Target="../customXml/item2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live site if the connection allows: opalera.onrender.com. The hero is animated — aurora, sparkles, floating gems.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members. Everyone touched both sides; these were the primary roles.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proposal in one breath: trust, honest prices, and the rating system as the differentiator.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headline: since the progress update the whole back-end landed. One Node server hosts the site and the API; no frameworks, no npm installs.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line of the marking sheet is done, plus three bonus features. Point at the four that were 'in progress' in August: database, invoices, user management, reports.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image in this deck is a real screenshot of the running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Sorting on price and name = the two sort criteria the sheet asks for. Filters: category, search, price band.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Stock, price and description here come from the server — edit a piece in the console and this page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business rules: discount, VAT, and stock/quantity caps. Card details never reach the server.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bonus features live here: the tracking timeline and the QR code that opens it from a printed invoice.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checks are enforced by the server (401/403), not just hidden in the UI. Manager and patron sessions are separate cookies.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data model left to right, then the endpoint list. Everything the pages show comes through these routes.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 'Different products sold' read-only text control in the filter bar — a specific marksheet item.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one filter change live if possible — the numbers animate from the old value to the new.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Demonstrate: change a price here, refresh the storefront tab, the card shows the new price.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time allows, tick two pieces on the live site and open the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Quality was engineered, not hoped for. Mention the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technical part with how to run it. Requires only Node.js.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 panel; invite questions; offer the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opalera.onrender.com" TargetMode="External"/><Relationship Id="rId4" Type="http://schemas.openxmlformats.org/officeDocument/2006/relationships/hyperlink" Target="https://github.com/Thrivi17/Opalera" TargetMode="External"/><Relationship Id="rId1" Type="http://schemas.openxmlformats.org/officeDocument/2006/relationships/image" Target="../media/image-18-1.png"/><Relationship Id="rId3" Type="http://schemas.openxmlformats.org/officeDocument/2006/relationships/image" Target="../media/image-18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1</a:t>
            </a:r>
            <a:endParaRPr lang="en-US" sz="800" dirty="0"/>
          </a:p>
        </p:txBody>
      </p:sp>
      <p:pic>
        <p:nvPicPr>
          <p:cNvPr id="12" name="Image 0" descr="C:\Users\khuth\AppData\Local\Temp\claude\C--Users-khuth-Blue-Vision-AI-Ompha---Ompha-informatics2B-Quantum-coders\51b1e526-a229-4dd7-88f9-20865f0652e8\scratchpad\shots\01-her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0" y="3611880"/>
            <a:ext cx="9144000" cy="1531620"/>
          </a:xfrm>
          <a:prstGeom prst="rect">
            <a:avLst/>
          </a:prstGeom>
          <a:solidFill>
            <a:srgbClr val="0B0A1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rot="2700000">
            <a:off x="502920" y="390448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3794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IFM2B10 · GROUP PROJECT · FINAL PRESENTATION · SEPTEMBER 2026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50292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OPALÉRA — The House of Every Gem</a:t>
            </a:r>
            <a:endParaRPr lang="en-US" sz="2800" dirty="0"/>
          </a:p>
        </p:txBody>
      </p:sp>
      <p:sp>
        <p:nvSpPr>
          <p:cNvPr id="17" name="Text 13"/>
          <p:cNvSpPr txBox="1"/>
          <p:nvPr/>
        </p:nvSpPr>
        <p:spPr>
          <a:xfrm>
            <a:off x="502920" y="45445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full-stack B2C fine-jewellery store · Quantum Coders · 80 pieces · 92 pages · Node.js backend · manager console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2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CODERS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57200" y="1600200"/>
            <a:ext cx="1920240" cy="2651760"/>
          </a:xfrm>
          <a:prstGeom prst="rect">
            <a:avLst/>
          </a:prstGeom>
          <a:solidFill>
            <a:srgbClr val="171522"/>
          </a:solidFill>
          <a:ln w="9525">
            <a:solidFill>
              <a:srgbClr val="3A335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097280" y="1874520"/>
            <a:ext cx="640080" cy="640080"/>
          </a:xfrm>
          <a:prstGeom prst="ellipse">
            <a:avLst/>
          </a:prstGeom>
          <a:solidFill>
            <a:srgbClr val="D8B45A">
              <a:alpha val="16000"/>
            </a:srgbClr>
          </a:solidFill>
          <a:ln w="12700">
            <a:solidFill>
              <a:srgbClr val="D8B45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2600" dirty="0"/>
          </a:p>
        </p:txBody>
      </p:sp>
      <p:sp>
        <p:nvSpPr>
          <p:cNvPr id="18" name="Text 15"/>
          <p:cNvSpPr txBox="1"/>
          <p:nvPr/>
        </p:nvSpPr>
        <p:spPr>
          <a:xfrm>
            <a:off x="594360" y="26974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Tsongorera RJN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30449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2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225059699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" y="3383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 · Backend developer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2560320" y="1600200"/>
            <a:ext cx="1920240" cy="2651760"/>
          </a:xfrm>
          <a:prstGeom prst="rect">
            <a:avLst/>
          </a:prstGeom>
          <a:solidFill>
            <a:srgbClr val="171522"/>
          </a:solidFill>
          <a:ln w="9525">
            <a:solidFill>
              <a:srgbClr val="3A335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200400" y="1874520"/>
            <a:ext cx="640080" cy="640080"/>
          </a:xfrm>
          <a:prstGeom prst="ellipse">
            <a:avLst/>
          </a:prstGeom>
          <a:solidFill>
            <a:srgbClr val="D8B45A">
              <a:alpha val="16000"/>
            </a:srgbClr>
          </a:solidFill>
          <a:ln w="12700">
            <a:solidFill>
              <a:srgbClr val="D8B45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200400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2600" dirty="0"/>
          </a:p>
        </p:txBody>
      </p:sp>
      <p:sp>
        <p:nvSpPr>
          <p:cNvPr id="24" name="Text 21"/>
          <p:cNvSpPr txBox="1"/>
          <p:nvPr/>
        </p:nvSpPr>
        <p:spPr>
          <a:xfrm>
            <a:off x="2697480" y="26974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Thedzisani KOP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2697480" y="30449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2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224098795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697480" y="3383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developer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663440" y="1600200"/>
            <a:ext cx="1920240" cy="2651760"/>
          </a:xfrm>
          <a:prstGeom prst="rect">
            <a:avLst/>
          </a:prstGeom>
          <a:solidFill>
            <a:srgbClr val="171522"/>
          </a:solidFill>
          <a:ln w="9525">
            <a:solidFill>
              <a:srgbClr val="3A335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303520" y="1874520"/>
            <a:ext cx="640080" cy="640080"/>
          </a:xfrm>
          <a:prstGeom prst="ellipse">
            <a:avLst/>
          </a:prstGeom>
          <a:solidFill>
            <a:srgbClr val="D8B45A">
              <a:alpha val="16000"/>
            </a:srgbClr>
          </a:solidFill>
          <a:ln w="12700">
            <a:solidFill>
              <a:srgbClr val="D8B45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303520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600" dirty="0"/>
          </a:p>
        </p:txBody>
      </p:sp>
      <p:sp>
        <p:nvSpPr>
          <p:cNvPr id="30" name="Text 27"/>
          <p:cNvSpPr txBox="1"/>
          <p:nvPr/>
        </p:nvSpPr>
        <p:spPr>
          <a:xfrm>
            <a:off x="4800600" y="26974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Madhavan T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800600" y="30449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2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225139703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4800600" y="3383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developer · Database creator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766560" y="1600200"/>
            <a:ext cx="1920240" cy="2651760"/>
          </a:xfrm>
          <a:prstGeom prst="rect">
            <a:avLst/>
          </a:prstGeom>
          <a:solidFill>
            <a:srgbClr val="171522"/>
          </a:solidFill>
          <a:ln w="9525">
            <a:solidFill>
              <a:srgbClr val="3A335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06640" y="1874520"/>
            <a:ext cx="640080" cy="640080"/>
          </a:xfrm>
          <a:prstGeom prst="ellipse">
            <a:avLst/>
          </a:prstGeom>
          <a:solidFill>
            <a:srgbClr val="D8B45A">
              <a:alpha val="16000"/>
            </a:srgbClr>
          </a:solidFill>
          <a:ln w="12700">
            <a:solidFill>
              <a:srgbClr val="D8B45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406640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600" dirty="0"/>
          </a:p>
        </p:txBody>
      </p:sp>
      <p:sp>
        <p:nvSpPr>
          <p:cNvPr id="36" name="Text 33"/>
          <p:cNvSpPr txBox="1"/>
          <p:nvPr/>
        </p:nvSpPr>
        <p:spPr>
          <a:xfrm>
            <a:off x="6903720" y="26974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Mtshare B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6903720" y="30449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2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225226751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6903720" y="3383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developer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the 80-piece Kaggle jewellery database · necklaces, earrings &amp; pendants · R 959 – R 6 799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3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PROPOSAL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OPALÉRA Exists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Buying jewellery online is a gamble — fake stones, no recourse, real pieces priced beyond a normal salary. OPALÉRA answers with a maison you can trust.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457200" y="2240280"/>
            <a:ext cx="2606040" cy="2286000"/>
          </a:xfrm>
          <a:prstGeom prst="rect">
            <a:avLst/>
          </a:prstGeom>
          <a:solidFill>
            <a:srgbClr val="171522"/>
          </a:solidFill>
          <a:ln w="9525">
            <a:solidFill>
              <a:srgbClr val="3A335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85800" y="2468880"/>
            <a:ext cx="457200" cy="45720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2578608"/>
            <a:ext cx="237744" cy="23774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8580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Certified authentic</a:t>
            </a:r>
            <a:endParaRPr lang="en-US" sz="1700" dirty="0"/>
          </a:p>
        </p:txBody>
      </p:sp>
      <p:sp>
        <p:nvSpPr>
          <p:cNvPr id="20" name="Text 16"/>
          <p:cNvSpPr txBox="1"/>
          <p:nvPr/>
        </p:nvSpPr>
        <p:spPr>
          <a:xfrm>
            <a:off x="685800" y="33832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piece carries its own certificate of authenticity; the maison refunds in full if a stone is ever misrepresented.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3246120" y="2240280"/>
            <a:ext cx="2606040" cy="2286000"/>
          </a:xfrm>
          <a:prstGeom prst="rect">
            <a:avLst/>
          </a:prstGeom>
          <a:solidFill>
            <a:srgbClr val="171522"/>
          </a:solidFill>
          <a:ln w="9525">
            <a:solidFill>
              <a:srgbClr val="3A335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3474720" y="2468880"/>
            <a:ext cx="457200" cy="45720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448" y="2578608"/>
            <a:ext cx="237744" cy="237744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347472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prices</a:t>
            </a:r>
            <a:endParaRPr lang="en-US" sz="1700" dirty="0"/>
          </a:p>
        </p:txBody>
      </p:sp>
      <p:sp>
        <p:nvSpPr>
          <p:cNvPr id="25" name="Text 20"/>
          <p:cNvSpPr txBox="1"/>
          <p:nvPr/>
        </p:nvSpPr>
        <p:spPr>
          <a:xfrm>
            <a:off x="3474720" y="33832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Direct-from-atelier pricing from R 959, VAT included, with the comparable boutique estimate and instalment framing on every piece.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6035040" y="2240280"/>
            <a:ext cx="2606040" cy="2286000"/>
          </a:xfrm>
          <a:prstGeom prst="rect">
            <a:avLst/>
          </a:prstGeom>
          <a:solidFill>
            <a:srgbClr val="171522"/>
          </a:solidFill>
          <a:ln w="9525">
            <a:solidFill>
              <a:srgbClr val="3A3350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6263640" y="2468880"/>
            <a:ext cx="457200" cy="45720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578608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626364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rating system</a:t>
            </a:r>
            <a:endParaRPr lang="en-US" sz="1700" dirty="0"/>
          </a:p>
        </p:txBody>
      </p:sp>
      <p:sp>
        <p:nvSpPr>
          <p:cNvPr id="30" name="Text 24"/>
          <p:cNvSpPr txBox="1"/>
          <p:nvPr/>
        </p:nvSpPr>
        <p:spPr>
          <a:xfrm>
            <a:off x="6263640" y="33832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ratings, written patron reviews with a verified-purchase badge, and thumbs votes — visible before you pay.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4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THE PROGRESS UPDATE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14173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</a:t>
            </a:r>
            <a:endParaRPr lang="en-US" sz="44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2148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PIECES IN THE DATABASE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2148840" y="14173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</a:t>
            </a:r>
            <a:endParaRPr lang="en-US" sz="4400" dirty="0"/>
          </a:p>
        </p:txBody>
      </p:sp>
      <p:sp>
        <p:nvSpPr>
          <p:cNvPr id="18" name="Text 15"/>
          <p:cNvSpPr txBox="1"/>
          <p:nvPr/>
        </p:nvSpPr>
        <p:spPr>
          <a:xfrm>
            <a:off x="2148840" y="2148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PAGES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3840480" y="14173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4400" dirty="0"/>
          </a:p>
        </p:txBody>
      </p:sp>
      <p:sp>
        <p:nvSpPr>
          <p:cNvPr id="20" name="Text 17"/>
          <p:cNvSpPr txBox="1"/>
          <p:nvPr/>
        </p:nvSpPr>
        <p:spPr>
          <a:xfrm>
            <a:off x="3840480" y="2148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ENDPOINTS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5532120" y="14173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400" dirty="0"/>
          </a:p>
        </p:txBody>
      </p:sp>
      <p:sp>
        <p:nvSpPr>
          <p:cNvPr id="22" name="Text 19"/>
          <p:cNvSpPr txBox="1"/>
          <p:nvPr/>
        </p:nvSpPr>
        <p:spPr>
          <a:xfrm>
            <a:off x="5532120" y="2148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ROLES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7223760" y="14173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24" name="Text 21"/>
          <p:cNvSpPr txBox="1"/>
          <p:nvPr/>
        </p:nvSpPr>
        <p:spPr>
          <a:xfrm>
            <a:off x="7223760" y="2148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DEPENDENCIES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57200" y="2697480"/>
            <a:ext cx="1920240" cy="1920240"/>
          </a:xfrm>
          <a:prstGeom prst="rect">
            <a:avLst/>
          </a:prstGeom>
          <a:solidFill>
            <a:srgbClr val="171522"/>
          </a:solidFill>
          <a:ln w="9525">
            <a:solidFill>
              <a:srgbClr val="3A335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40080" y="2852928"/>
            <a:ext cx="384048" cy="384048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2252" y="2945100"/>
            <a:ext cx="199705" cy="199705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640080" y="3291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Node.js server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640080" y="3611880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server.js — routes, scrypt password hashing, httpOnly cookie sessions, server-side totals, static hosting of the site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2560320" y="2697480"/>
            <a:ext cx="1920240" cy="1920240"/>
          </a:xfrm>
          <a:prstGeom prst="rect">
            <a:avLst/>
          </a:prstGeom>
          <a:solidFill>
            <a:srgbClr val="171522"/>
          </a:solidFill>
          <a:ln w="9525">
            <a:solidFill>
              <a:srgbClr val="3A335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2743200" y="2852928"/>
            <a:ext cx="384048" cy="384048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5372" y="2945100"/>
            <a:ext cx="199705" cy="199705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2743200" y="3291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JSON database</a:t>
            </a:r>
            <a:endParaRPr lang="en-US" sz="1400" dirty="0"/>
          </a:p>
        </p:txBody>
      </p:sp>
      <p:sp>
        <p:nvSpPr>
          <p:cNvPr id="34" name="Text 29"/>
          <p:cNvSpPr txBox="1"/>
          <p:nvPr/>
        </p:nvSpPr>
        <p:spPr>
          <a:xfrm>
            <a:off x="2743200" y="3611880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data/db.json — users, sessions, products, orders, reviews, wishlists, carts, resets; seeded on first run</a:t>
            </a:r>
            <a:endParaRPr lang="en-US" sz="950" dirty="0"/>
          </a:p>
        </p:txBody>
      </p:sp>
      <p:sp>
        <p:nvSpPr>
          <p:cNvPr id="35" name="Shape 30"/>
          <p:cNvSpPr/>
          <p:nvPr/>
        </p:nvSpPr>
        <p:spPr>
          <a:xfrm>
            <a:off x="4663440" y="2697480"/>
            <a:ext cx="1920240" cy="1920240"/>
          </a:xfrm>
          <a:prstGeom prst="rect">
            <a:avLst/>
          </a:prstGeom>
          <a:solidFill>
            <a:srgbClr val="171522"/>
          </a:solidFill>
          <a:ln w="9525">
            <a:solidFill>
              <a:srgbClr val="3A3350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4846320" y="2852928"/>
            <a:ext cx="384048" cy="384048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8492" y="2945100"/>
            <a:ext cx="199705" cy="199705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4846320" y="3291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JS layer</a:t>
            </a:r>
            <a:endParaRPr lang="en-US" sz="1400" dirty="0"/>
          </a:p>
        </p:txBody>
      </p:sp>
      <p:sp>
        <p:nvSpPr>
          <p:cNvPr id="39" name="Text 33"/>
          <p:cNvSpPr txBox="1"/>
          <p:nvPr/>
        </p:nvSpPr>
        <p:spPr>
          <a:xfrm>
            <a:off x="4846320" y="3611880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opalera-data.js — catalogue helpers, the API client, the live catalogue mirror, order tracking; one script for every page</a:t>
            </a:r>
            <a:endParaRPr lang="en-US" sz="950" dirty="0"/>
          </a:p>
        </p:txBody>
      </p:sp>
      <p:sp>
        <p:nvSpPr>
          <p:cNvPr id="40" name="Shape 34"/>
          <p:cNvSpPr/>
          <p:nvPr/>
        </p:nvSpPr>
        <p:spPr>
          <a:xfrm>
            <a:off x="6766560" y="2697480"/>
            <a:ext cx="1920240" cy="1920240"/>
          </a:xfrm>
          <a:prstGeom prst="rect">
            <a:avLst/>
          </a:prstGeom>
          <a:solidFill>
            <a:srgbClr val="171522"/>
          </a:solidFill>
          <a:ln w="9525">
            <a:solidFill>
              <a:srgbClr val="3A3350"/>
            </a:solidFill>
            <a:prstDash val="solid"/>
          </a:ln>
        </p:spPr>
      </p:sp>
      <p:sp>
        <p:nvSpPr>
          <p:cNvPr id="41" name="Shape 35"/>
          <p:cNvSpPr/>
          <p:nvPr/>
        </p:nvSpPr>
        <p:spPr>
          <a:xfrm>
            <a:off x="6949440" y="2852928"/>
            <a:ext cx="384048" cy="384048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4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1612" y="2945100"/>
            <a:ext cx="199705" cy="199705"/>
          </a:xfrm>
          <a:prstGeom prst="rect">
            <a:avLst/>
          </a:prstGeom>
        </p:spPr>
      </p:pic>
      <p:sp>
        <p:nvSpPr>
          <p:cNvPr id="43" name="Text 36"/>
          <p:cNvSpPr txBox="1"/>
          <p:nvPr/>
        </p:nvSpPr>
        <p:spPr>
          <a:xfrm>
            <a:off x="6949440" y="3291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Deployed</a:t>
            </a:r>
            <a:endParaRPr lang="en-US" sz="1400" dirty="0"/>
          </a:p>
        </p:txBody>
      </p:sp>
      <p:sp>
        <p:nvSpPr>
          <p:cNvPr id="44" name="Text 37"/>
          <p:cNvSpPr txBox="1"/>
          <p:nvPr/>
        </p:nvSpPr>
        <p:spPr>
          <a:xfrm>
            <a:off x="6949440" y="3611880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→ Render: opalera.onrender.com serves the same server, site and API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5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THE MARKING SHEET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Feature Stands Complete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57200" y="1417320"/>
            <a:ext cx="4023360" cy="512064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66928" y="1536192"/>
            <a:ext cx="274320" cy="274320"/>
          </a:xfrm>
          <a:prstGeom prst="ellipse">
            <a:avLst/>
          </a:prstGeom>
          <a:solidFill>
            <a:srgbClr val="2FAE7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1600200"/>
            <a:ext cx="146304" cy="146304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960120" y="146304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Website design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2468880" y="1463040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gold-on-midnight system, 92 pages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4663440" y="1417320"/>
            <a:ext cx="4023360" cy="512064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773168" y="1536192"/>
            <a:ext cx="274320" cy="274320"/>
          </a:xfrm>
          <a:prstGeom prst="ellipse">
            <a:avLst/>
          </a:prstGeom>
          <a:solidFill>
            <a:srgbClr val="2FAE7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6" y="1600200"/>
            <a:ext cx="146304" cy="146304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166360" y="146304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catalog</a:t>
            </a:r>
            <a:endParaRPr lang="en-US" sz="1350" dirty="0"/>
          </a:p>
        </p:txBody>
      </p:sp>
      <p:sp>
        <p:nvSpPr>
          <p:cNvPr id="24" name="Text 19"/>
          <p:cNvSpPr txBox="1"/>
          <p:nvPr/>
        </p:nvSpPr>
        <p:spPr>
          <a:xfrm>
            <a:off x="6675120" y="1463040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service-fed, search · price bands · sort · tabs</a:t>
            </a:r>
            <a:endParaRPr 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457200" y="2020824"/>
            <a:ext cx="4023360" cy="512064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566928" y="2139696"/>
            <a:ext cx="274320" cy="274320"/>
          </a:xfrm>
          <a:prstGeom prst="ellipse">
            <a:avLst/>
          </a:prstGeom>
          <a:solidFill>
            <a:srgbClr val="2FAE7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2203704"/>
            <a:ext cx="146304" cy="14630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960120" y="2066544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</a:t>
            </a:r>
            <a:endParaRPr lang="en-US" sz="1350" dirty="0"/>
          </a:p>
        </p:txBody>
      </p:sp>
      <p:sp>
        <p:nvSpPr>
          <p:cNvPr id="29" name="Text 23"/>
          <p:cNvSpPr txBox="1"/>
          <p:nvPr/>
        </p:nvSpPr>
        <p:spPr>
          <a:xfrm>
            <a:off x="2468880" y="2066544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collections, 80 seeded products</a:t>
            </a:r>
            <a:endParaRPr lang="en-US" sz="950" dirty="0"/>
          </a:p>
        </p:txBody>
      </p:sp>
      <p:sp>
        <p:nvSpPr>
          <p:cNvPr id="30" name="Shape 24"/>
          <p:cNvSpPr/>
          <p:nvPr/>
        </p:nvSpPr>
        <p:spPr>
          <a:xfrm>
            <a:off x="4663440" y="2020824"/>
            <a:ext cx="4023360" cy="512064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4773168" y="2139696"/>
            <a:ext cx="274320" cy="274320"/>
          </a:xfrm>
          <a:prstGeom prst="ellipse">
            <a:avLst/>
          </a:prstGeom>
          <a:solidFill>
            <a:srgbClr val="2FAE7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7176" y="2203704"/>
            <a:ext cx="146304" cy="146304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5166360" y="2066544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service</a:t>
            </a:r>
            <a:endParaRPr lang="en-US" sz="1350" dirty="0"/>
          </a:p>
        </p:txBody>
      </p:sp>
      <p:sp>
        <p:nvSpPr>
          <p:cNvPr id="34" name="Text 27"/>
          <p:cNvSpPr txBox="1"/>
          <p:nvPr/>
        </p:nvSpPr>
        <p:spPr>
          <a:xfrm>
            <a:off x="6675120" y="2066544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JSON endpoints, cookie sessions</a:t>
            </a:r>
            <a:endParaRPr lang="en-US" sz="950" dirty="0"/>
          </a:p>
        </p:txBody>
      </p:sp>
      <p:sp>
        <p:nvSpPr>
          <p:cNvPr id="35" name="Shape 28"/>
          <p:cNvSpPr/>
          <p:nvPr/>
        </p:nvSpPr>
        <p:spPr>
          <a:xfrm>
            <a:off x="457200" y="2624328"/>
            <a:ext cx="4023360" cy="512064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566928" y="2743200"/>
            <a:ext cx="274320" cy="274320"/>
          </a:xfrm>
          <a:prstGeom prst="ellipse">
            <a:avLst/>
          </a:prstGeom>
          <a:solidFill>
            <a:srgbClr val="2FAE7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" y="2807208"/>
            <a:ext cx="146304" cy="146304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960120" y="267004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management</a:t>
            </a:r>
            <a:endParaRPr lang="en-US" sz="1350" dirty="0"/>
          </a:p>
        </p:txBody>
      </p:sp>
      <p:sp>
        <p:nvSpPr>
          <p:cNvPr id="39" name="Text 31"/>
          <p:cNvSpPr txBox="1"/>
          <p:nvPr/>
        </p:nvSpPr>
        <p:spPr>
          <a:xfrm>
            <a:off x="2468880" y="2670048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· edit · retire · delete, live on the storefront</a:t>
            </a:r>
            <a:endParaRPr lang="en-US" sz="950" dirty="0"/>
          </a:p>
        </p:txBody>
      </p:sp>
      <p:sp>
        <p:nvSpPr>
          <p:cNvPr id="40" name="Shape 32"/>
          <p:cNvSpPr/>
          <p:nvPr/>
        </p:nvSpPr>
        <p:spPr>
          <a:xfrm>
            <a:off x="4663440" y="2624328"/>
            <a:ext cx="4023360" cy="512064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4773168" y="2743200"/>
            <a:ext cx="274320" cy="274320"/>
          </a:xfrm>
          <a:prstGeom prst="ellipse">
            <a:avLst/>
          </a:prstGeom>
          <a:solidFill>
            <a:srgbClr val="2FAE7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37176" y="2807208"/>
            <a:ext cx="146304" cy="146304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5166360" y="267004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Shopping cart</a:t>
            </a:r>
            <a:endParaRPr lang="en-US" sz="1350" dirty="0"/>
          </a:p>
        </p:txBody>
      </p:sp>
      <p:sp>
        <p:nvSpPr>
          <p:cNvPr id="44" name="Text 35"/>
          <p:cNvSpPr txBox="1"/>
          <p:nvPr/>
        </p:nvSpPr>
        <p:spPr>
          <a:xfrm>
            <a:off x="6675120" y="2670048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quantities, stock caps, saved per account</a:t>
            </a:r>
            <a:endParaRPr lang="en-US" sz="950" dirty="0"/>
          </a:p>
        </p:txBody>
      </p:sp>
      <p:sp>
        <p:nvSpPr>
          <p:cNvPr id="45" name="Shape 36"/>
          <p:cNvSpPr/>
          <p:nvPr/>
        </p:nvSpPr>
        <p:spPr>
          <a:xfrm>
            <a:off x="457200" y="3227832"/>
            <a:ext cx="4023360" cy="512064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46" name="Shape 37"/>
          <p:cNvSpPr/>
          <p:nvPr/>
        </p:nvSpPr>
        <p:spPr>
          <a:xfrm>
            <a:off x="566928" y="3346704"/>
            <a:ext cx="274320" cy="274320"/>
          </a:xfrm>
          <a:prstGeom prst="ellipse">
            <a:avLst/>
          </a:prstGeom>
          <a:solidFill>
            <a:srgbClr val="2FAE7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936" y="3410712"/>
            <a:ext cx="146304" cy="146304"/>
          </a:xfrm>
          <a:prstGeom prst="rect">
            <a:avLst/>
          </a:prstGeom>
        </p:spPr>
      </p:pic>
      <p:sp>
        <p:nvSpPr>
          <p:cNvPr id="48" name="Text 38"/>
          <p:cNvSpPr txBox="1"/>
          <p:nvPr/>
        </p:nvSpPr>
        <p:spPr>
          <a:xfrm>
            <a:off x="960120" y="327355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Transactions</a:t>
            </a:r>
            <a:endParaRPr lang="en-US" sz="1350" dirty="0"/>
          </a:p>
        </p:txBody>
      </p:sp>
      <p:sp>
        <p:nvSpPr>
          <p:cNvPr id="49" name="Text 39"/>
          <p:cNvSpPr txBox="1"/>
          <p:nvPr/>
        </p:nvSpPr>
        <p:spPr>
          <a:xfrm>
            <a:off x="2468880" y="3273552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 codes, 15% VAT, stock deducted, 3 pay methods</a:t>
            </a:r>
            <a:endParaRPr lang="en-US" sz="950" dirty="0"/>
          </a:p>
        </p:txBody>
      </p:sp>
      <p:sp>
        <p:nvSpPr>
          <p:cNvPr id="50" name="Shape 40"/>
          <p:cNvSpPr/>
          <p:nvPr/>
        </p:nvSpPr>
        <p:spPr>
          <a:xfrm>
            <a:off x="4663440" y="3227832"/>
            <a:ext cx="4023360" cy="512064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51" name="Shape 41"/>
          <p:cNvSpPr/>
          <p:nvPr/>
        </p:nvSpPr>
        <p:spPr>
          <a:xfrm>
            <a:off x="4773168" y="3346704"/>
            <a:ext cx="274320" cy="274320"/>
          </a:xfrm>
          <a:prstGeom prst="ellipse">
            <a:avLst/>
          </a:prstGeom>
          <a:solidFill>
            <a:srgbClr val="2FAE7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5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37176" y="3410712"/>
            <a:ext cx="146304" cy="146304"/>
          </a:xfrm>
          <a:prstGeom prst="rect">
            <a:avLst/>
          </a:prstGeom>
        </p:spPr>
      </p:pic>
      <p:sp>
        <p:nvSpPr>
          <p:cNvPr id="53" name="Text 42"/>
          <p:cNvSpPr txBox="1"/>
          <p:nvPr/>
        </p:nvSpPr>
        <p:spPr>
          <a:xfrm>
            <a:off x="5166360" y="327355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Invoices</a:t>
            </a:r>
            <a:endParaRPr lang="en-US" sz="1350" dirty="0"/>
          </a:p>
        </p:txBody>
      </p:sp>
      <p:sp>
        <p:nvSpPr>
          <p:cNvPr id="54" name="Text 43"/>
          <p:cNvSpPr txBox="1"/>
          <p:nvPr/>
        </p:nvSpPr>
        <p:spPr>
          <a:xfrm>
            <a:off x="6675120" y="3273552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invoice per order, QR code, printable</a:t>
            </a:r>
            <a:endParaRPr lang="en-US" sz="950" dirty="0"/>
          </a:p>
        </p:txBody>
      </p:sp>
      <p:sp>
        <p:nvSpPr>
          <p:cNvPr id="55" name="Shape 44"/>
          <p:cNvSpPr/>
          <p:nvPr/>
        </p:nvSpPr>
        <p:spPr>
          <a:xfrm>
            <a:off x="457200" y="3831336"/>
            <a:ext cx="4023360" cy="512064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56" name="Shape 45"/>
          <p:cNvSpPr/>
          <p:nvPr/>
        </p:nvSpPr>
        <p:spPr>
          <a:xfrm>
            <a:off x="566928" y="3950208"/>
            <a:ext cx="274320" cy="274320"/>
          </a:xfrm>
          <a:prstGeom prst="ellipse">
            <a:avLst/>
          </a:prstGeom>
          <a:solidFill>
            <a:srgbClr val="2FAE7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5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4014216"/>
            <a:ext cx="146304" cy="146304"/>
          </a:xfrm>
          <a:prstGeom prst="rect">
            <a:avLst/>
          </a:prstGeom>
        </p:spPr>
      </p:pic>
      <p:sp>
        <p:nvSpPr>
          <p:cNvPr id="58" name="Text 46"/>
          <p:cNvSpPr txBox="1"/>
          <p:nvPr/>
        </p:nvSpPr>
        <p:spPr>
          <a:xfrm>
            <a:off x="960120" y="38770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management</a:t>
            </a:r>
            <a:endParaRPr lang="en-US" sz="1350" dirty="0"/>
          </a:p>
        </p:txBody>
      </p:sp>
      <p:sp>
        <p:nvSpPr>
          <p:cNvPr id="59" name="Text 47"/>
          <p:cNvSpPr txBox="1"/>
          <p:nvPr/>
        </p:nvSpPr>
        <p:spPr>
          <a:xfrm>
            <a:off x="2468880" y="3877056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· login · reset · patron &amp; manager roles</a:t>
            </a:r>
            <a:endParaRPr lang="en-US" sz="950" dirty="0"/>
          </a:p>
        </p:txBody>
      </p:sp>
      <p:sp>
        <p:nvSpPr>
          <p:cNvPr id="60" name="Shape 48"/>
          <p:cNvSpPr/>
          <p:nvPr/>
        </p:nvSpPr>
        <p:spPr>
          <a:xfrm>
            <a:off x="4663440" y="3831336"/>
            <a:ext cx="4023360" cy="512064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61" name="Shape 49"/>
          <p:cNvSpPr/>
          <p:nvPr/>
        </p:nvSpPr>
        <p:spPr>
          <a:xfrm>
            <a:off x="4773168" y="3950208"/>
            <a:ext cx="274320" cy="274320"/>
          </a:xfrm>
          <a:prstGeom prst="ellipse">
            <a:avLst/>
          </a:prstGeom>
          <a:solidFill>
            <a:srgbClr val="2FAE7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6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37176" y="4014216"/>
            <a:ext cx="146304" cy="146304"/>
          </a:xfrm>
          <a:prstGeom prst="rect">
            <a:avLst/>
          </a:prstGeom>
        </p:spPr>
      </p:pic>
      <p:sp>
        <p:nvSpPr>
          <p:cNvPr id="63" name="Text 50"/>
          <p:cNvSpPr txBox="1"/>
          <p:nvPr/>
        </p:nvSpPr>
        <p:spPr>
          <a:xfrm>
            <a:off x="5166360" y="38770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Reports</a:t>
            </a:r>
            <a:endParaRPr lang="en-US" sz="1350" dirty="0"/>
          </a:p>
        </p:txBody>
      </p:sp>
      <p:sp>
        <p:nvSpPr>
          <p:cNvPr id="64" name="Text 51"/>
          <p:cNvSpPr txBox="1"/>
          <p:nvPr/>
        </p:nvSpPr>
        <p:spPr>
          <a:xfrm>
            <a:off x="6675120" y="3877056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filters, distinct-products control, stock, users/day, 6 KPIs</a:t>
            </a:r>
            <a:endParaRPr lang="en-US" sz="950" dirty="0"/>
          </a:p>
        </p:txBody>
      </p:sp>
      <p:sp>
        <p:nvSpPr>
          <p:cNvPr id="65" name="Shape 52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sp>
        <p:nvSpPr>
          <p:cNvPr id="66" name="Text 53"/>
          <p:cNvSpPr txBox="1"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0D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 ·  compare pieces side by side  ·  live order-tracking timeline  ·  QR code on every invoice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6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SITE TOUR · WEBSITE DESIGN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Arrival at the Maison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3794760" y="1371600"/>
            <a:ext cx="4937760" cy="3118104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6" name="Image 0" descr="C:\Users\khuth\AppData\Local\Temp\claude\C--Users-khuth-Blue-Vision-AI-Ompha---Ompha-informatics2B-Quantum-coders\51b1e526-a229-4dd7-88f9-20865f0652e8\scratchpad\shots\01-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1417320"/>
            <a:ext cx="4846320" cy="302666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57200" y="1463040"/>
            <a:ext cx="3063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2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Animated aurora, sparkle field and floating gems behind every page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2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gold-on-midnight design system across all 92 pages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2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strip on arrival: rating · authenticity · returns · from R 959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2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Signed-in patron with live wishlist and bag counts in the nav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57200" y="4315968"/>
            <a:ext cx="1376172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7200" y="4315968"/>
            <a:ext cx="13761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· DONE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7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SITE TOUR · PRODUCT CATALOG + WEB SERVICE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Collection — Fed by the Service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3794760" y="1371600"/>
            <a:ext cx="4937760" cy="3118104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6" name="Image 0" descr="C:\Users\khuth\AppData\Local\Temp\claude\C--Users-khuth-Blue-Vision-AI-Ompha---Ompha-informatics2B-Quantum-coders\51b1e526-a229-4dd7-88f9-20865f0652e8\scratchpad\shots\02-coll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1417320"/>
            <a:ext cx="4846320" cy="302666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57200" y="1463040"/>
            <a:ext cx="3063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catalogue is retrieved from the database through GET /api/products — prices, photos, stock and retired pieces update live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tabs with live counts, search, four price bands and sorting by price or name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“Showing 80 of 80 pieces” honesty line; wishlist hearts and a compare tick on every card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card opens the piece's own page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457200" y="4315968"/>
            <a:ext cx="1453896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7200" y="4315968"/>
            <a:ext cx="1453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· DONE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2020824" y="4315968"/>
            <a:ext cx="1453896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2020824" y="4315968"/>
            <a:ext cx="1453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· DONE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8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SITE TOUR · ONE PAGE PER PIECE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Product Page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11480" y="1371600"/>
            <a:ext cx="4937760" cy="3118104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6" name="Image 0" descr="C:\Users\khuth\AppData\Local\Temp\claude\C--Users-khuth-Blue-Vision-AI-Ompha---Ompha-informatics2B-Quantum-coders\51b1e526-a229-4dd7-88f9-20865f0652e8\scratchpad\shots\04-produ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4846320" cy="302666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623560" y="1463040"/>
            <a:ext cx="3063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Hand-written description for all 80 pieces, plus craftsmanship specs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stock from the database — “Only 3 left in the vault”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Stars, thumbs votes and “% recommend”; reviews with the verified-purchase badge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boutique estimate, instalments, certificate of authenticity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Manager-added pieces get a page automatically (product.html?id=…)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623560" y="4315968"/>
            <a:ext cx="1764792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623560" y="4315968"/>
            <a:ext cx="1764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· DONE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5623560" y="4645152"/>
            <a:ext cx="1453896" cy="256032"/>
          </a:xfrm>
          <a:prstGeom prst="roundRect">
            <a:avLst>
              <a:gd name="adj" fmla="val 50000"/>
            </a:avLst>
          </a:prstGeom>
          <a:solidFill>
            <a:srgbClr val="3F6FD8">
              <a:alpha val="18000"/>
            </a:srgbClr>
          </a:solidFill>
          <a:ln w="9525">
            <a:solidFill>
              <a:srgbClr val="3F6FD8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623560" y="4645152"/>
            <a:ext cx="1453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3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· LIVE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9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SITE TOUR · CART + TRANSACTION PROCESSING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Checkout: Quantities, Rules &amp; VAT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3794760" y="1371600"/>
            <a:ext cx="4937760" cy="3118104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6" name="Image 0" descr="C:\Users\khuth\AppData\Local\Temp\claude\C--Users-khuth-Blue-Vision-AI-Ompha---Ompha-informatics2B-Quantum-coders\51b1e526-a229-4dd7-88f9-20865f0652e8\scratchpad\shots\05-pay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1417320"/>
            <a:ext cx="4846320" cy="302666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57200" y="1463040"/>
            <a:ext cx="3063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 with quantities, capped by real stock; customisations itemised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rules: promo codes (WELCOME10 / GEM10), 15% VAT inside every total, delivery address with all nine provinces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Card, Instant EFT or pay-at-counter — totals recomputed on the server so the client can't tamper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is deducted on the server the moment the order is placed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457200" y="4315968"/>
            <a:ext cx="1220724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7200" y="4315968"/>
            <a:ext cx="12207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· DONE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57200" y="4645152"/>
            <a:ext cx="1842516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57200" y="4645152"/>
            <a:ext cx="18425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· DONE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10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SITE TOUR · INVOICES + ORDER TRACKING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Tax Invoice — and Where Your Order Is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11480" y="1371600"/>
            <a:ext cx="4069080" cy="2578608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6" name="Image 0" descr="C:\Users\khuth\AppData\Local\Temp\claude\C--Users-khuth-Blue-Vision-AI-Ompha---Ompha-informatics2B-Quantum-coders\51b1e526-a229-4dd7-88f9-20865f0652e8\scratchpad\shots\08-invo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3977640" cy="248716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4663440" y="1371600"/>
            <a:ext cx="4069080" cy="2578608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8" name="Image 1" descr="C:\Users\khuth\AppData\Local\Temp\claude\C--Users-khuth-Blue-Vision-AI-Ompha---Ompha-informatics2B-Quantum-coders\51b1e526-a229-4dd7-88f9-20865f0652e8\scratchpad\shots\07-track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17320"/>
            <a:ext cx="3977640" cy="2487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57200" y="402336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invoice · generated from the server's order record: letterhead, invoice №, date, method, line items with inscriptions, discount and VAT broken out, print / save as PDF.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4709160" y="402336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timeline · Placed → Paid → Packed → Shipped → Delivered (a collection path for pay-at-counter), advancing with time; the QR on the invoice opens it.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457200" y="4572000"/>
            <a:ext cx="1531620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57200" y="4572000"/>
            <a:ext cx="1531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INVOICES · DONE</a:t>
            </a:r>
            <a:endParaRPr lang="en-US" sz="800" dirty="0"/>
          </a:p>
        </p:txBody>
      </p:sp>
      <p:sp>
        <p:nvSpPr>
          <p:cNvPr id="23" name="Shape 18"/>
          <p:cNvSpPr/>
          <p:nvPr/>
        </p:nvSpPr>
        <p:spPr>
          <a:xfrm>
            <a:off x="4709160" y="4572000"/>
            <a:ext cx="754380" cy="256032"/>
          </a:xfrm>
          <a:prstGeom prst="roundRect">
            <a:avLst>
              <a:gd name="adj" fmla="val 50000"/>
            </a:avLst>
          </a:prstGeom>
          <a:solidFill>
            <a:srgbClr val="D8B45A">
              <a:alpha val="18000"/>
            </a:srgbClr>
          </a:solidFill>
          <a:ln w="9525">
            <a:solidFill>
              <a:srgbClr val="D8B45A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709160" y="4572000"/>
            <a:ext cx="75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11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MANAGEMENT · ROLES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Kinds of Visitor, Three Doors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11480" y="1371600"/>
            <a:ext cx="4937760" cy="3118104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6" name="Image 0" descr="C:\Users\khuth\AppData\Local\Temp\claude\C--Users-khuth-Blue-Vision-AI-Ompha---Ompha-informatics2B-Quantum-coders\51b1e526-a229-4dd7-88f9-20865f0652e8\scratchpad\shots\06-accou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4846320" cy="302666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623560" y="1463040"/>
            <a:ext cx="3063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— browses, searches, votes, reads reviews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 — registers (scrypt-hashed password, httpOnly cookie session); wishlist and bag saved on the server; orders, verified reviews, order history &amp; invoices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— a separate console session (role “manager” on the server); patron accounts are refused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Forgot-password: one-time 6-digit code, single use, 15-minute expiry; show-password eye on every field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623560" y="4315968"/>
            <a:ext cx="1842516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623560" y="4315968"/>
            <a:ext cx="18425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· DONE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5623560" y="4645152"/>
            <a:ext cx="1298448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623560" y="464515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· DONE</a:t>
            </a:r>
            <a:endParaRPr lang="en-US" sz="800" dirty="0"/>
          </a:p>
        </p:txBody>
      </p:sp>
      <p:sp>
        <p:nvSpPr>
          <p:cNvPr id="22" name="Shape 18"/>
          <p:cNvSpPr/>
          <p:nvPr/>
        </p:nvSpPr>
        <p:spPr>
          <a:xfrm>
            <a:off x="7031736" y="4645152"/>
            <a:ext cx="1298448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031736" y="464515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· DONE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12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+ WEB SERVICE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Server, Eight Collections, 22 Endpoints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57200" y="1417320"/>
            <a:ext cx="1920240" cy="804672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54480"/>
            <a:ext cx="201168" cy="20116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868680" y="15087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users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594360" y="18013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· names · scrypt salt+hash · role · createdAt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2560320" y="1417320"/>
            <a:ext cx="1920240" cy="804672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80" y="1554480"/>
            <a:ext cx="201168" cy="20116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2971800" y="15087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sessions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2697480" y="18013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→ email · expiry (patron &amp; manager scopes)</a:t>
            </a:r>
            <a:endParaRPr lang="en-US" sz="850" dirty="0"/>
          </a:p>
        </p:txBody>
      </p:sp>
      <p:sp>
        <p:nvSpPr>
          <p:cNvPr id="23" name="Shape 18"/>
          <p:cNvSpPr/>
          <p:nvPr/>
        </p:nvSpPr>
        <p:spPr>
          <a:xfrm>
            <a:off x="4663440" y="1417320"/>
            <a:ext cx="1920240" cy="804672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554480"/>
            <a:ext cx="201168" cy="20116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074920" y="15087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products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4800600" y="18013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pieces: category · name · price · img · desc · stock · hidden</a:t>
            </a:r>
            <a:endParaRPr lang="en-US" sz="850" dirty="0"/>
          </a:p>
        </p:txBody>
      </p:sp>
      <p:sp>
        <p:nvSpPr>
          <p:cNvPr id="27" name="Shape 21"/>
          <p:cNvSpPr/>
          <p:nvPr/>
        </p:nvSpPr>
        <p:spPr>
          <a:xfrm>
            <a:off x="6766560" y="1417320"/>
            <a:ext cx="1920240" cy="804672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1554480"/>
            <a:ext cx="201168" cy="201168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178040" y="15087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orders</a:t>
            </a:r>
            <a:endParaRPr lang="en-US" sz="1300" dirty="0"/>
          </a:p>
        </p:txBody>
      </p:sp>
      <p:sp>
        <p:nvSpPr>
          <p:cNvPr id="30" name="Text 23"/>
          <p:cNvSpPr txBox="1"/>
          <p:nvPr/>
        </p:nvSpPr>
        <p:spPr>
          <a:xfrm>
            <a:off x="6903720" y="18013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 · items · totals · VAT · promo · gift · address · method · status</a:t>
            </a:r>
            <a:endParaRPr lang="en-US" sz="850" dirty="0"/>
          </a:p>
        </p:txBody>
      </p:sp>
      <p:sp>
        <p:nvSpPr>
          <p:cNvPr id="31" name="Shape 24"/>
          <p:cNvSpPr/>
          <p:nvPr/>
        </p:nvSpPr>
        <p:spPr>
          <a:xfrm>
            <a:off x="457200" y="2331720"/>
            <a:ext cx="1920240" cy="804672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2468880"/>
            <a:ext cx="201168" cy="201168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68680" y="2423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reviews</a:t>
            </a:r>
            <a:endParaRPr lang="en-US" sz="1300" dirty="0"/>
          </a:p>
        </p:txBody>
      </p:sp>
      <p:sp>
        <p:nvSpPr>
          <p:cNvPr id="34" name="Text 26"/>
          <p:cNvSpPr txBox="1"/>
          <p:nvPr/>
        </p:nvSpPr>
        <p:spPr>
          <a:xfrm>
            <a:off x="594360" y="2715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 · stars · text · verified · patron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2560320" y="2331720"/>
            <a:ext cx="1920240" cy="804672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97480" y="2468880"/>
            <a:ext cx="201168" cy="201168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2971800" y="2423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wishlists · carts</a:t>
            </a:r>
            <a:endParaRPr lang="en-US" sz="1300" dirty="0"/>
          </a:p>
        </p:txBody>
      </p:sp>
      <p:sp>
        <p:nvSpPr>
          <p:cNvPr id="38" name="Text 29"/>
          <p:cNvSpPr txBox="1"/>
          <p:nvPr/>
        </p:nvSpPr>
        <p:spPr>
          <a:xfrm>
            <a:off x="2697480" y="2715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patron, merged on sign-in</a:t>
            </a:r>
            <a:endParaRPr lang="en-US" sz="850" dirty="0"/>
          </a:p>
        </p:txBody>
      </p:sp>
      <p:sp>
        <p:nvSpPr>
          <p:cNvPr id="39" name="Shape 30"/>
          <p:cNvSpPr/>
          <p:nvPr/>
        </p:nvSpPr>
        <p:spPr>
          <a:xfrm>
            <a:off x="4663440" y="2331720"/>
            <a:ext cx="1920240" cy="804672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pic>
        <p:nvPicPr>
          <p:cNvPr id="4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2468880"/>
            <a:ext cx="201168" cy="201168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5074920" y="2423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resets</a:t>
            </a:r>
            <a:endParaRPr lang="en-US" sz="1300" dirty="0"/>
          </a:p>
        </p:txBody>
      </p:sp>
      <p:sp>
        <p:nvSpPr>
          <p:cNvPr id="42" name="Text 32"/>
          <p:cNvSpPr txBox="1"/>
          <p:nvPr/>
        </p:nvSpPr>
        <p:spPr>
          <a:xfrm>
            <a:off x="4800600" y="2715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codes with expiry &amp; attempt limit</a:t>
            </a:r>
            <a:endParaRPr lang="en-US" sz="850" dirty="0"/>
          </a:p>
        </p:txBody>
      </p:sp>
      <p:sp>
        <p:nvSpPr>
          <p:cNvPr id="43" name="Shape 33"/>
          <p:cNvSpPr/>
          <p:nvPr/>
        </p:nvSpPr>
        <p:spPr>
          <a:xfrm>
            <a:off x="6766560" y="2331720"/>
            <a:ext cx="1920240" cy="804672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sp>
        <p:nvSpPr>
          <p:cNvPr id="44" name="Text 34"/>
          <p:cNvSpPr txBox="1"/>
          <p:nvPr/>
        </p:nvSpPr>
        <p:spPr>
          <a:xfrm>
            <a:off x="6903720" y="2395728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F0D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the demo: delete db.json — the catalogue re-seeds and the manager account is recreated on the next run.</a:t>
            </a:r>
            <a:endParaRPr lang="en-US" sz="850" dirty="0"/>
          </a:p>
        </p:txBody>
      </p:sp>
      <p:sp>
        <p:nvSpPr>
          <p:cNvPr id="45" name="Text 35"/>
          <p:cNvSpPr txBox="1"/>
          <p:nvPr/>
        </p:nvSpPr>
        <p:spPr>
          <a:xfrm>
            <a:off x="457200" y="333756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850" dirty="0"/>
          </a:p>
        </p:txBody>
      </p:sp>
      <p:sp>
        <p:nvSpPr>
          <p:cNvPr id="46" name="Text 36"/>
          <p:cNvSpPr txBox="1"/>
          <p:nvPr/>
        </p:nvSpPr>
        <p:spPr>
          <a:xfrm>
            <a:off x="1554480" y="3337560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signup · login · forgot · reset · logout  ·  GET me · admin/me</a:t>
            </a:r>
            <a:endParaRPr lang="en-US" sz="1050" dirty="0"/>
          </a:p>
        </p:txBody>
      </p:sp>
      <p:sp>
        <p:nvSpPr>
          <p:cNvPr id="47" name="Text 37"/>
          <p:cNvSpPr txBox="1"/>
          <p:nvPr/>
        </p:nvSpPr>
        <p:spPr>
          <a:xfrm>
            <a:off x="457200" y="37033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CATALOGUE</a:t>
            </a:r>
            <a:endParaRPr lang="en-US" sz="850" dirty="0"/>
          </a:p>
        </p:txBody>
      </p:sp>
      <p:sp>
        <p:nvSpPr>
          <p:cNvPr id="48" name="Text 38"/>
          <p:cNvSpPr txBox="1"/>
          <p:nvPr/>
        </p:nvSpPr>
        <p:spPr>
          <a:xfrm>
            <a:off x="1554480" y="3703320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products  ·  POST / PUT /:id / DELETE /:id (manager)</a:t>
            </a:r>
            <a:endParaRPr lang="en-US" sz="1050" dirty="0"/>
          </a:p>
        </p:txBody>
      </p:sp>
      <p:sp>
        <p:nvSpPr>
          <p:cNvPr id="49" name="Text 39"/>
          <p:cNvSpPr txBox="1"/>
          <p:nvPr/>
        </p:nvSpPr>
        <p:spPr>
          <a:xfrm>
            <a:off x="457200" y="40690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</a:t>
            </a:r>
            <a:endParaRPr lang="en-US" sz="850" dirty="0"/>
          </a:p>
        </p:txBody>
      </p:sp>
      <p:sp>
        <p:nvSpPr>
          <p:cNvPr id="50" name="Text 40"/>
          <p:cNvSpPr txBox="1"/>
          <p:nvPr/>
        </p:nvSpPr>
        <p:spPr>
          <a:xfrm>
            <a:off x="1554480" y="4069080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GET/PUT cart  ·  GET/PUT wishlist  ·  GET/POST orders  ·  GET reviews, reviews/:pid  ·  POST reviews</a:t>
            </a:r>
            <a:endParaRPr lang="en-US" sz="1050" dirty="0"/>
          </a:p>
        </p:txBody>
      </p:sp>
      <p:sp>
        <p:nvSpPr>
          <p:cNvPr id="51" name="Text 41"/>
          <p:cNvSpPr txBox="1"/>
          <p:nvPr/>
        </p:nvSpPr>
        <p:spPr>
          <a:xfrm>
            <a:off x="457200" y="44348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850" dirty="0"/>
          </a:p>
        </p:txBody>
      </p:sp>
      <p:sp>
        <p:nvSpPr>
          <p:cNvPr id="52" name="Text 42"/>
          <p:cNvSpPr txBox="1"/>
          <p:nvPr/>
        </p:nvSpPr>
        <p:spPr>
          <a:xfrm>
            <a:off x="1554480" y="4434840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admin/orders  ·  GET admin/users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13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MANAGER'S CONSOLE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Back Office in the Same World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11480" y="1371600"/>
            <a:ext cx="4937760" cy="3118104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6" name="Image 0" descr="C:\Users\khuth\AppData\Local\Temp\claude\C--Users-khuth-Blue-Vision-AI-Ompha---Ompha-informatics2B-Quantum-coders\51b1e526-a229-4dd7-88f9-20865f0652e8\scratchpad\shots\10-console-repor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4846320" cy="302666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623560" y="1463040"/>
            <a:ext cx="3063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manager sign-in — verified by the server; patrons are refused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KPI cards that count up: pieces sold with an improving / declining verdict, revenue, orders &amp; average order, different products sold, stock on hand, new patrons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 grow into place: units per month with the revenue line, sales-by-collection donut, units by province, users per day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indicator, greeting and toasts — the same midnight-and-gold as the storefront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623560" y="4315968"/>
            <a:ext cx="1842516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623560" y="4315968"/>
            <a:ext cx="18425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MGMT · DONE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5623560" y="4645152"/>
            <a:ext cx="1453896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623560" y="4645152"/>
            <a:ext cx="1453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· DONE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14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· FILTERING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Reports: Data Decides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3794760" y="1371600"/>
            <a:ext cx="4937760" cy="3118104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6" name="Image 0" descr="C:\Users\khuth\AppData\Local\Temp\claude\C--Users-khuth-Blue-Vision-AI-Ompha---Ompha-informatics2B-Quantum-coders\51b1e526-a229-4dd7-88f9-20865f0652e8\scratchpad\shots\11-console-char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1417320"/>
            <a:ext cx="4846320" cy="302666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57200" y="1463040"/>
            <a:ext cx="3063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period (all time · 30 / 90 days · this year · custom months), collection, province and source — every figure recalculates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Values: pieces sold + growth verdict, revenue, orders &amp; average order, different products sold (text control), stock on hand &amp; vault value by collection, registered users per day, best sellers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history is clearly labelled; live orders from the database merge on top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and Patrons tabs list every order and every account with sign-up dates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457200" y="4315968"/>
            <a:ext cx="1065276" cy="256032"/>
          </a:xfrm>
          <a:prstGeom prst="roundRect">
            <a:avLst>
              <a:gd name="adj" fmla="val 50000"/>
            </a:avLst>
          </a:prstGeom>
          <a:solidFill>
            <a:srgbClr val="3F6FD8">
              <a:alpha val="18000"/>
            </a:srgbClr>
          </a:solidFill>
          <a:ln w="9525">
            <a:solidFill>
              <a:srgbClr val="3F6FD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7200" y="4315968"/>
            <a:ext cx="10652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3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FILTERING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1632204" y="4315968"/>
            <a:ext cx="1376172" cy="256032"/>
          </a:xfrm>
          <a:prstGeom prst="roundRect">
            <a:avLst>
              <a:gd name="adj" fmla="val 50000"/>
            </a:avLst>
          </a:prstGeom>
          <a:solidFill>
            <a:srgbClr val="3F6FD8">
              <a:alpha val="18000"/>
            </a:srgbClr>
          </a:solidFill>
          <a:ln w="9525">
            <a:solidFill>
              <a:srgbClr val="3F6FD8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632204" y="4315968"/>
            <a:ext cx="13761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3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ON HAND</a:t>
            </a:r>
            <a:endParaRPr lang="en-US" sz="800" dirty="0"/>
          </a:p>
        </p:txBody>
      </p:sp>
      <p:sp>
        <p:nvSpPr>
          <p:cNvPr id="22" name="Shape 18"/>
          <p:cNvSpPr/>
          <p:nvPr/>
        </p:nvSpPr>
        <p:spPr>
          <a:xfrm>
            <a:off x="457200" y="4645152"/>
            <a:ext cx="1220724" cy="256032"/>
          </a:xfrm>
          <a:prstGeom prst="roundRect">
            <a:avLst>
              <a:gd name="adj" fmla="val 50000"/>
            </a:avLst>
          </a:prstGeom>
          <a:solidFill>
            <a:srgbClr val="3F6FD8">
              <a:alpha val="18000"/>
            </a:srgbClr>
          </a:solidFill>
          <a:ln w="9525">
            <a:solidFill>
              <a:srgbClr val="3F6FD8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57200" y="4645152"/>
            <a:ext cx="12207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3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/ DAY</a:t>
            </a:r>
            <a:endParaRPr lang="en-US" sz="800" dirty="0"/>
          </a:p>
        </p:txBody>
      </p:sp>
      <p:sp>
        <p:nvSpPr>
          <p:cNvPr id="24" name="Shape 20"/>
          <p:cNvSpPr/>
          <p:nvPr/>
        </p:nvSpPr>
        <p:spPr>
          <a:xfrm>
            <a:off x="1787652" y="4645152"/>
            <a:ext cx="1687068" cy="256032"/>
          </a:xfrm>
          <a:prstGeom prst="roundRect">
            <a:avLst>
              <a:gd name="adj" fmla="val 50000"/>
            </a:avLst>
          </a:prstGeom>
          <a:solidFill>
            <a:srgbClr val="3F6FD8">
              <a:alpha val="18000"/>
            </a:srgbClr>
          </a:solidFill>
          <a:ln w="9525">
            <a:solidFill>
              <a:srgbClr val="3F6FD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787652" y="4645152"/>
            <a:ext cx="16870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3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PRODUCTS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15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MANAGEMENT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Add, Edit, Retire, Delete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11480" y="1371600"/>
            <a:ext cx="4937760" cy="3118104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6" name="Image 0" descr="C:\Users\khuth\AppData\Local\Temp\claude\C--Users-khuth-Blue-Vision-AI-Ompha---Ompha-informatics2B-Quantum-coders\51b1e526-a229-4dd7-88f9-20865f0652e8\scratchpad\shots\12-console-inven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4846320" cy="302666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623560" y="1463040"/>
            <a:ext cx="3063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piece: name, collection, price, stock, photo (with preview) and description → POST /api/products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any piece in place — the storefront and its product page update immediately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stock control; low-stock and out-of-stock flags; retire hides a piece while keeping its history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removes it from the database; search and status filters over all 80 pieces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623560" y="4315968"/>
            <a:ext cx="909828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623560" y="4315968"/>
            <a:ext cx="9098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· 3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6643116" y="4315968"/>
            <a:ext cx="987552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643116" y="4315968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· 5</a:t>
            </a:r>
            <a:endParaRPr lang="en-US" sz="800" dirty="0"/>
          </a:p>
        </p:txBody>
      </p:sp>
      <p:sp>
        <p:nvSpPr>
          <p:cNvPr id="22" name="Shape 18"/>
          <p:cNvSpPr/>
          <p:nvPr/>
        </p:nvSpPr>
        <p:spPr>
          <a:xfrm>
            <a:off x="5623560" y="4645152"/>
            <a:ext cx="1143000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623560" y="464515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· 2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16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· BEYOND THE BRIEF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Compare, Track, Scan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3794760" y="1371600"/>
            <a:ext cx="4937760" cy="3118104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6" name="Image 0" descr="C:\Users\khuth\AppData\Local\Temp\claude\C--Users-khuth-Blue-Vision-AI-Ompha---Ompha-informatics2B-Quantum-coders\51b1e526-a229-4dd7-88f9-20865f0652e8\scratchpad\shots\03-comp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1417320"/>
            <a:ext cx="4846320" cy="302666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57200" y="1463040"/>
            <a:ext cx="3063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pieces — tick up to three; a side-by-side table of photo, price (“Best price”), stone, metal, rating (“Top rated”) and availability, with add-to-bag in place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tracking — a live timeline per order, with status chips and ETA on the account page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code on every invoice — printed invoices open the order's tracking page from a phone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Also: the Studio customiser with content-filtered inscriptions, and a motion system that respects reduced-motion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457200" y="4315968"/>
            <a:ext cx="754380" cy="256032"/>
          </a:xfrm>
          <a:prstGeom prst="roundRect">
            <a:avLst>
              <a:gd name="adj" fmla="val 50000"/>
            </a:avLst>
          </a:prstGeom>
          <a:solidFill>
            <a:srgbClr val="D8B45A">
              <a:alpha val="18000"/>
            </a:srgbClr>
          </a:solidFill>
          <a:ln w="9525">
            <a:solidFill>
              <a:srgbClr val="D8B45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7200" y="4315968"/>
            <a:ext cx="75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17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TESTING, SECURITY &amp; ACCESSIBILITY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 Be Trusted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57200" y="1417320"/>
            <a:ext cx="4023360" cy="1481328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0080" y="1600200"/>
            <a:ext cx="420624" cy="420624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1030" y="1701150"/>
            <a:ext cx="218724" cy="218724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234440" y="1600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 automated API checks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640080" y="2075688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&amp; static blocking, sign-up / login / reset, cart, wishlist, orders with server-side totals and stock deduction, reviews, roles, product CRUD and validation — all passing.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4663440" y="1417320"/>
            <a:ext cx="4023360" cy="1481328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846320" y="1600200"/>
            <a:ext cx="420624" cy="420624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7270" y="1701150"/>
            <a:ext cx="218724" cy="218724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440680" y="1600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Browser-verified pages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4846320" y="2075688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page loaded with zero console errors; compare, tracking, invoice QR, account and the console exercised end to end.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457200" y="3063240"/>
            <a:ext cx="4023360" cy="1481328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640080" y="3246120"/>
            <a:ext cx="420624" cy="420624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030" y="3347070"/>
            <a:ext cx="218724" cy="21872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234440" y="3246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by default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640080" y="3721608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scrypt password hashes with per-user salt, constant-time comparison, httpOnly SameSite cookies, server-recomputed totals, the backend folder never served over HTTP, role checks on the server.</a:t>
            </a:r>
            <a:endParaRPr lang="en-US" sz="1000" dirty="0"/>
          </a:p>
        </p:txBody>
      </p:sp>
      <p:sp>
        <p:nvSpPr>
          <p:cNvPr id="30" name="Shape 24"/>
          <p:cNvSpPr/>
          <p:nvPr/>
        </p:nvSpPr>
        <p:spPr>
          <a:xfrm>
            <a:off x="4663440" y="3063240"/>
            <a:ext cx="4023360" cy="1481328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4846320" y="3246120"/>
            <a:ext cx="420624" cy="420624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7270" y="3347070"/>
            <a:ext cx="218724" cy="218724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5440680" y="3246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Accessible &amp; considerate</a:t>
            </a:r>
            <a:endParaRPr lang="en-US" sz="1600" dirty="0"/>
          </a:p>
        </p:txBody>
      </p:sp>
      <p:sp>
        <p:nvSpPr>
          <p:cNvPr id="34" name="Text 27"/>
          <p:cNvSpPr txBox="1"/>
          <p:nvPr/>
        </p:nvSpPr>
        <p:spPr>
          <a:xfrm>
            <a:off x="4846320" y="3721608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Reduced-motion switch, ARIA tabs and live regions, focus rings, colour contrast checked; a multi-agent review found and fixed 29 defects before release.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18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· HOW TO RUN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on Render, Runs Anywhere Node Does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57200" y="1417320"/>
            <a:ext cx="4023360" cy="320040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1554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LOCALLY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1874520"/>
            <a:ext cx="3566160" cy="411480"/>
          </a:xfrm>
          <a:prstGeom prst="rect">
            <a:avLst/>
          </a:prstGeom>
          <a:solidFill>
            <a:srgbClr val="0B0A10"/>
          </a:solidFill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opalera-backend/server.js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685800" y="242316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open http://localhost:3000 — it redirects to the storefront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server hosts the whole site and its API; no installs, no build step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lives in opalera-backend/data/db.json, created on first run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3749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ACCOUNTS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4023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  </a:t>
            </a:r>
            <a:pPr indent="0" marL="0">
              <a:buNone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demo@example.com / demo123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manager@opalera.co.za / Opalera2026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663440" y="1417320"/>
            <a:ext cx="4023360" cy="320040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892040" y="1600200"/>
            <a:ext cx="420624" cy="420624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2990" y="1701150"/>
            <a:ext cx="218724" cy="21872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440680" y="16276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site</a:t>
            </a:r>
            <a:endParaRPr lang="en-US" sz="1600" dirty="0"/>
          </a:p>
        </p:txBody>
      </p:sp>
      <p:sp>
        <p:nvSpPr>
          <p:cNvPr id="25" name="Text 21">
            <a:hlinkClick r:id="rId2" tooltip=""/>
          </p:cNvPr>
          <p:cNvSpPr txBox="1"/>
          <p:nvPr/>
        </p:nvSpPr>
        <p:spPr>
          <a:xfrm>
            <a:off x="489204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E9DCC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opalera.onrender.com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4892040" y="24688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Storefront  /pages/jewellery_Html.html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 /pages/admin.html</a:t>
            </a:r>
            <a:endParaRPr lang="en-US" sz="1050" dirty="0"/>
          </a:p>
        </p:txBody>
      </p:sp>
      <p:sp>
        <p:nvSpPr>
          <p:cNvPr id="27" name="Shape 23"/>
          <p:cNvSpPr/>
          <p:nvPr/>
        </p:nvSpPr>
        <p:spPr>
          <a:xfrm>
            <a:off x="4892040" y="3154680"/>
            <a:ext cx="420624" cy="420624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990" y="3255630"/>
            <a:ext cx="218724" cy="218724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5440680" y="31821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</a:t>
            </a:r>
            <a:endParaRPr lang="en-US" sz="1600" dirty="0"/>
          </a:p>
        </p:txBody>
      </p:sp>
      <p:sp>
        <p:nvSpPr>
          <p:cNvPr id="30" name="Text 25">
            <a:hlinkClick r:id="rId4" tooltip=""/>
          </p:cNvPr>
          <p:cNvSpPr txBox="1"/>
          <p:nvPr/>
        </p:nvSpPr>
        <p:spPr>
          <a:xfrm>
            <a:off x="489204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E9DCC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github.com/Thrivi17/Opalera</a:t>
            </a:r>
            <a:endParaRPr lang="en-US" sz="1500" dirty="0"/>
          </a:p>
        </p:txBody>
      </p:sp>
      <p:sp>
        <p:nvSpPr>
          <p:cNvPr id="31" name="Text 26"/>
          <p:cNvSpPr txBox="1"/>
          <p:nvPr/>
        </p:nvSpPr>
        <p:spPr>
          <a:xfrm>
            <a:off x="4892040" y="4023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redeploys from the repository on every push.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19</a:t>
            </a:r>
            <a:endParaRPr lang="en-US" sz="800" dirty="0"/>
          </a:p>
        </p:txBody>
      </p:sp>
      <p:pic>
        <p:nvPicPr>
          <p:cNvPr id="12" name="Image 0" descr="C:\Users\khuth\AppData\Local\Temp\claude\C--Users-khuth-Blue-Vision-AI-Ompha---Ompha-informatics2B-Quantum-coders\51b1e526-a229-4dd7-88f9-20865f0652e8\scratchpad\shots\02-collection.pn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A10">
              <a:alpha val="6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rot="2700000">
            <a:off x="4443984" y="1600200"/>
            <a:ext cx="256032" cy="256032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14400" y="19659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spc="1800" kern="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OPALÉRA</a:t>
            </a:r>
            <a:endParaRPr lang="en-US" sz="5400" dirty="0"/>
          </a:p>
        </p:txBody>
      </p:sp>
      <p:sp>
        <p:nvSpPr>
          <p:cNvPr id="16" name="Text 12"/>
          <p:cNvSpPr txBox="1"/>
          <p:nvPr/>
        </p:nvSpPr>
        <p:spPr>
          <a:xfrm>
            <a:off x="914400" y="2834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8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HOUSE OF EVERY GEM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91440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A49C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questions, and a live demonstration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914400" y="3886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Coders · Tsongorera RJN · Thedzisani KOP · Madhavan T · Mtshare B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55D54C4BE8209459CDD442853243339" ma:contentTypeVersion="12" ma:contentTypeDescription="Create a new document." ma:contentTypeScope="" ma:versionID="dfd341e6d85260cefd9eb71fbf660b53">
  <xsd:schema xmlns:xsd="http://www.w3.org/2001/XMLSchema" xmlns:xs="http://www.w3.org/2001/XMLSchema" xmlns:p="http://schemas.microsoft.com/office/2006/metadata/properties" xmlns:ns2="e4f918c6-1cd1-488d-9ccc-eb7305c33331" xmlns:ns3="e184df55-e762-47d8-8617-b03ab0cd384a" targetNamespace="http://schemas.microsoft.com/office/2006/metadata/properties" ma:root="true" ma:fieldsID="9b59bc757ef0bcd93609dfd947085087" ns2:_="" ns3:_="">
    <xsd:import namespace="e4f918c6-1cd1-488d-9ccc-eb7305c33331"/>
    <xsd:import namespace="e184df55-e762-47d8-8617-b03ab0cd384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f918c6-1cd1-488d-9ccc-eb7305c3333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aaa6930a-261e-48e3-890f-2cc23a7ffb4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description="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84df55-e762-47d8-8617-b03ab0cd384a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dd397d74-5c33-4710-b73f-1a4b3dd3312b}" ma:internalName="TaxCatchAll" ma:showField="CatchAllData" ma:web="e184df55-e762-47d8-8617-b03ab0cd384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184df55-e762-47d8-8617-b03ab0cd384a" xsi:nil="true"/>
    <lcf76f155ced4ddcb4097134ff3c332f xmlns="e4f918c6-1cd1-488d-9ccc-eb7305c33331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9EBFF2F1-E120-4F6D-96F7-ADA71B9CDB4F}"/>
</file>

<file path=customXml/itemProps2.xml><?xml version="1.0" encoding="utf-8"?>
<ds:datastoreItem xmlns:ds="http://schemas.openxmlformats.org/officeDocument/2006/customXml" ds:itemID="{7FDE31C2-CF3C-434C-A9CC-0526EE74EF4D}"/>
</file>

<file path=customXml/itemProps3.xml><?xml version="1.0" encoding="utf-8"?>
<ds:datastoreItem xmlns:ds="http://schemas.openxmlformats.org/officeDocument/2006/customXml" ds:itemID="{2157F620-CBC5-4417-80CF-F947AAF289EE}"/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OPALÉRA — Final Project Presentation</dc:title>
  <dc:subject>PptxGenJS Presentation</dc:subject>
  <dc:creator>Quantum Coders</dc:creator>
  <cp:lastModifiedBy>Quantum Coders</cp:lastModifiedBy>
  <cp:revision>1</cp:revision>
  <dcterms:created xsi:type="dcterms:W3CDTF">2026-09-12T19:04:59Z</dcterms:created>
  <dcterms:modified xsi:type="dcterms:W3CDTF">2026-09-12T19:04:59Z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0x010100955D54C4BE8209459CDD442853243339</vt:lpwstr>
  </property>
</Properties>
</file>